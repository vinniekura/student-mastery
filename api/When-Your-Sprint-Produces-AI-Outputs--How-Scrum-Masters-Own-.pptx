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not talking about AI arriving someday — these outputs are landing in Confluence pages and backlogs today. The challenge is that they look like productivity, so teams accept them without scrutiny. This session gives Scrum Masters a practical, ceremony-by-ceremony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cost of ungoverned AI artefacts isn't ethical in the abstract — it's three wasted sprints building for the wrong user segment. Process integrity is already the Scrum Master's domain, which makes this a natural extension of the role rather than a new burden. That's the reframe executives need to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Scrum Master advantage is proximity — they're inside every ceremony where AI outputs make their first appearance. Centralised governance can't catch a biased user story before it enters a sprint; the Scrum Master can. This slide positions the role as the right intervention point, not just a willing volunteer.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doesn't need to be a formal checklist or add significant time — a brief verbal provenance statement becomes a habit within two or three sprints. The goal is to make the team conscious that AI-generated stories are hypotheses about user needs, not confirmed requirements. Bridge to the next slide: once stories are in-flight, the Daily Scrum is where model influence on decisions needs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Scrum is at risk of becoming a performance for the AI dashboard rather than a genuine team conversation. Scrum Masters should listen for passive deference to model outputs — 'the forecast says,' 'the tool flagged' — and redirect toward human judgement. The question to ask: what do we know today that the model doesn't? That single habit preserves the ceremony's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AI tool generates a sprint review summary, it optimises for coherence, not completeness — it will smooth over the tension between the PO and a key stakeholder, or omit the edge case that actually matters most. Scrum Masters should treat auto-generated summaries as a first draft requiring human editorial review, not a finished output. This bridges directly into how the retrospective handles AI-synthesised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Retrospectives work because people believe their voice shapes what changes next sprint. When an AI tool synthesises themes, there's a real risk that team members stop speaking candidly — either because they assume the machine is filtering them, or because they see their nuanced point collapsed into a generic category. Scrum Masters should validate AI-synthesised themes against their own facilitation notes before the session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clauses can be added to an existing DoD in a single retrospective action item — they don't require a new tool or a policy sign-off. The provenance and audit trail clauses are especially relevant for APS teams where public accountability and ministerial scrutiny are real scenarios. Moving from 'it looked right' to 'we can show our reasoning' is the shift these clauses 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bias is the most insidious because it's invisible — teams don't notice they've stopped questioning AI outputs, they just feel more efficient. Provenance drift happens fastest in high-velocity sprints where copied Confluence pages lose their edit history. Accountability gaps become critical the moment a stakeholder or auditor asks 'who approved this?' Scrum Masters are positioned to catch all three if they're watching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maturity curve gives Scrum Masters a way to have a forward-looking conversation with their organisation rather than a defensive one about current gaps. Starting at Level 1 — simply being able to identify AI-generated artefacts — is achievable immediately and builds the awareness that makes subsequent levels possible. For APS executives, Level 4 maps directly to existing obligations around record-keeping and decision auditability.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these actions work is that they cost almost nothing individually but compound into a governance culture within two to three sprints. Scrum Masters don't need executive sign-off to ask a provenance question or add a backlog tag — they can start unilaterally and bring the team along. The ask for leadership is to recognise this as a legitimate part of the Scrum Master role, not an overhead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reframe for executives and Scrum Masters alike: AI governance in the sprint isn't a compliance tax on delivery — it's an extension of the quality and process integrity the Scrum Master has always been responsible for. Teams that build this habit now will be significantly better positioned as agentic AI becomes more autonomous and the stakes of ungoverned outputs rise. The question isn't whether to govern AI outputs; it's whether to govern them deliberately or reactively.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p:spPr>
      </p:sp>
      <p:sp>
        <p:nvSpPr>
          <p:cNvPr id="3" name="Shape 1"/>
          <p:cNvSpPr/>
          <p:nvPr/>
        </p:nvSpPr>
        <p:spPr>
          <a:xfrm>
            <a:off x="164592" y="4389120"/>
            <a:ext cx="8979408" cy="754380"/>
          </a:xfrm>
          <a:prstGeom prst="rect">
            <a:avLst/>
          </a:prstGeom>
          <a:solidFill>
            <a:srgbClr val="131C2E"/>
          </a:solidFill>
          <a:ln/>
        </p:spPr>
      </p:sp>
      <p:sp>
        <p:nvSpPr>
          <p:cNvPr id="4" name="Text 2"/>
          <p:cNvSpPr/>
          <p:nvPr/>
        </p:nvSpPr>
        <p:spPr>
          <a:xfrm>
            <a:off x="411480" y="320040"/>
            <a:ext cx="365760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Data</a:t>
            </a:r>
            <a:pPr indent="0" marL="0">
              <a:buNone/>
            </a:pPr>
            <a:r>
              <a:rPr lang="en-US" sz="1800" b="1" dirty="0">
                <a:solidFill>
                  <a:srgbClr val="0D9488"/>
                </a:solidFill>
                <a:latin typeface="Calibri" pitchFamily="34" charset="0"/>
                <a:ea typeface="Calibri" pitchFamily="34" charset="-122"/>
                <a:cs typeface="Calibri" pitchFamily="34" charset="-120"/>
              </a:rPr>
              <a:t>Mastery</a:t>
            </a:r>
            <a:endParaRPr lang="en-US" sz="1800" dirty="0"/>
          </a:p>
        </p:txBody>
      </p:sp>
      <p:sp>
        <p:nvSpPr>
          <p:cNvPr id="5" name="Text 3"/>
          <p:cNvSpPr/>
          <p:nvPr/>
        </p:nvSpPr>
        <p:spPr>
          <a:xfrm>
            <a:off x="411480" y="960120"/>
            <a:ext cx="1645920" cy="292608"/>
          </a:xfrm>
          <a:prstGeom prst="rect">
            <a:avLst/>
          </a:prstGeom>
          <a:noFill/>
          <a:ln/>
        </p:spPr>
        <p:txBody>
          <a:bodyPr wrap="square" lIns="0" tIns="0" rIns="0" bIns="0" rtlCol="0" anchor="ctr"/>
          <a:lstStyle/>
          <a:p>
            <a:pPr algn="ctr" indent="0" marL="0">
              <a:buNone/>
            </a:pPr>
            <a:r>
              <a:rPr lang="en-US" sz="900" b="1" spc="200" kern="0" dirty="0">
                <a:solidFill>
                  <a:srgbClr val="0D9488"/>
                </a:solidFill>
                <a:latin typeface="Calibri" pitchFamily="34" charset="0"/>
                <a:ea typeface="Calibri" pitchFamily="34" charset="-122"/>
                <a:cs typeface="Calibri" pitchFamily="34" charset="-120"/>
              </a:rPr>
              <a:t>AGILE &amp; AI GOVERNANCE</a:t>
            </a:r>
            <a:endParaRPr lang="en-US" sz="900" dirty="0"/>
          </a:p>
        </p:txBody>
      </p:sp>
      <p:sp>
        <p:nvSpPr>
          <p:cNvPr id="6" name="Text 4"/>
          <p:cNvSpPr/>
          <p:nvPr/>
        </p:nvSpPr>
        <p:spPr>
          <a:xfrm>
            <a:off x="411480" y="1371600"/>
            <a:ext cx="8046720" cy="2194560"/>
          </a:xfrm>
          <a:prstGeom prst="rect">
            <a:avLst/>
          </a:prstGeom>
          <a:noFill/>
          <a:ln/>
        </p:spPr>
        <p:txBody>
          <a:bodyPr wrap="square" lIns="0" tIns="0" rIns="0" bIns="0" rtlCol="0" anchor="t"/>
          <a:lstStyle/>
          <a:p>
            <a:pPr indent="0" marL="0">
              <a:buNone/>
            </a:pPr>
            <a:r>
              <a:rPr lang="en-US" sz="3200" dirty="0">
                <a:solidFill>
                  <a:srgbClr val="FFFFFF"/>
                </a:solidFill>
                <a:latin typeface="Georgia" pitchFamily="34" charset="0"/>
                <a:ea typeface="Georgia" pitchFamily="34" charset="-122"/>
                <a:cs typeface="Georgia" pitchFamily="34" charset="-120"/>
              </a:rPr>
              <a:t>When Your Sprint Produces AI Outputs</a:t>
            </a:r>
            <a:endParaRPr lang="en-US" sz="3200" dirty="0"/>
          </a:p>
        </p:txBody>
      </p:sp>
      <p:sp>
        <p:nvSpPr>
          <p:cNvPr id="7" name="Text 5"/>
          <p:cNvSpPr/>
          <p:nvPr/>
        </p:nvSpPr>
        <p:spPr>
          <a:xfrm>
            <a:off x="411480" y="3520440"/>
            <a:ext cx="6858000" cy="64008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Scrum Masters are the last line of practical governance for AI-generated artefacts — here's how to own it, ceremony by ceremony</a:t>
            </a:r>
            <a:endParaRPr lang="en-US" sz="1400" dirty="0"/>
          </a:p>
        </p:txBody>
      </p:sp>
      <p:sp>
        <p:nvSpPr>
          <p:cNvPr id="8" name="Text 6"/>
          <p:cNvSpPr/>
          <p:nvPr/>
        </p:nvSpPr>
        <p:spPr>
          <a:xfrm>
            <a:off x="411480" y="4434840"/>
            <a:ext cx="640080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Vinnie Kura  ·  Data Mastery  ·  datamastery.com.au</a:t>
            </a:r>
            <a:endParaRPr lang="en-US" sz="1000" dirty="0"/>
          </a:p>
        </p:txBody>
      </p:sp>
      <p:sp>
        <p:nvSpPr>
          <p:cNvPr id="9" name="Text 7"/>
          <p:cNvSpPr/>
          <p:nvPr/>
        </p:nvSpPr>
        <p:spPr>
          <a:xfrm>
            <a:off x="6858000" y="4434840"/>
            <a:ext cx="2011680" cy="457200"/>
          </a:xfrm>
          <a:prstGeom prst="rect">
            <a:avLst/>
          </a:prstGeom>
          <a:noFill/>
          <a:ln/>
        </p:spPr>
        <p:txBody>
          <a:bodyPr wrap="square" lIns="0" tIns="0" rIns="0" bIns="0" rtlCol="0" anchor="ctr"/>
          <a:lstStyle/>
          <a:p>
            <a:pPr algn="r" indent="0" marL="0">
              <a:buNone/>
            </a:pPr>
            <a:r>
              <a:rPr lang="en-US" sz="1000" dirty="0">
                <a:solidFill>
                  <a:srgbClr val="0D9488"/>
                </a:solidFill>
                <a:latin typeface="Calibri" pitchFamily="34" charset="0"/>
                <a:ea typeface="Calibri" pitchFamily="34" charset="-122"/>
                <a:cs typeface="Calibri" pitchFamily="34" charset="-120"/>
              </a:rPr>
              <a:t>April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623"/>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0F1A"/>
          </a:solidFill>
          <a:ln/>
        </p:spPr>
      </p:sp>
      <p:sp>
        <p:nvSpPr>
          <p:cNvPr id="3" name="Shape 1"/>
          <p:cNvSpPr/>
          <p:nvPr/>
        </p:nvSpPr>
        <p:spPr>
          <a:xfrm>
            <a:off x="0" y="0"/>
            <a:ext cx="109728" cy="658368"/>
          </a:xfrm>
          <a:prstGeom prst="rect">
            <a:avLst/>
          </a:prstGeom>
          <a:solidFill>
            <a:srgbClr val="0D9488"/>
          </a:solidFill>
          <a:ln/>
        </p:spPr>
      </p:sp>
      <p:sp>
        <p:nvSpPr>
          <p:cNvPr id="4" name="Text 2"/>
          <p:cNvSpPr/>
          <p:nvPr/>
        </p:nvSpPr>
        <p:spPr>
          <a:xfrm>
            <a:off x="256032" y="0"/>
            <a:ext cx="7498080" cy="658368"/>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AI Artefacts Are Already in Your Sprint</a:t>
            </a:r>
            <a:endParaRPr lang="en-US" sz="1800" dirty="0"/>
          </a:p>
        </p:txBody>
      </p:sp>
      <p:sp>
        <p:nvSpPr>
          <p:cNvPr id="5" name="Text 3"/>
          <p:cNvSpPr/>
          <p:nvPr/>
        </p:nvSpPr>
        <p:spPr>
          <a:xfrm>
            <a:off x="8321040" y="0"/>
            <a:ext cx="658368" cy="65836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2</a:t>
            </a:r>
            <a:endParaRPr lang="en-US" sz="1100" dirty="0"/>
          </a:p>
        </p:txBody>
      </p:sp>
      <p:sp>
        <p:nvSpPr>
          <p:cNvPr id="6" name="Shape 4"/>
          <p:cNvSpPr/>
          <p:nvPr/>
        </p:nvSpPr>
        <p:spPr>
          <a:xfrm>
            <a:off x="0" y="4956048"/>
            <a:ext cx="9144000" cy="187452"/>
          </a:xfrm>
          <a:prstGeom prst="rect">
            <a:avLst/>
          </a:prstGeom>
          <a:solidFill>
            <a:srgbClr val="0A0F1A"/>
          </a:solidFill>
          <a:ln/>
        </p:spPr>
      </p:sp>
      <p:sp>
        <p:nvSpPr>
          <p:cNvPr id="7" name="Text 5"/>
          <p:cNvSpPr/>
          <p:nvPr/>
        </p:nvSpPr>
        <p:spPr>
          <a:xfrm>
            <a:off x="256032" y="49651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Data Mastery  ·  datamastery.com.au</a:t>
            </a:r>
            <a:endParaRPr lang="en-US" sz="800" dirty="0"/>
          </a:p>
        </p:txBody>
      </p:sp>
      <p:sp>
        <p:nvSpPr>
          <p:cNvPr id="8" name="Text 6"/>
          <p:cNvSpPr/>
          <p:nvPr/>
        </p:nvSpPr>
        <p:spPr>
          <a:xfrm>
            <a:off x="6858000" y="4965192"/>
            <a:ext cx="210312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 2026 Vinnie Kura</a:t>
            </a:r>
            <a:endParaRPr lang="en-US" sz="800" dirty="0"/>
          </a:p>
        </p:txBody>
      </p:sp>
      <p:sp>
        <p:nvSpPr>
          <p:cNvPr id="10" name="Shape 7"/>
          <p:cNvSpPr/>
          <p:nvPr/>
        </p:nvSpPr>
        <p:spPr>
          <a:xfrm>
            <a:off x="6217920" y="777240"/>
            <a:ext cx="2560320" cy="4023360"/>
          </a:xfrm>
          <a:prstGeom prst="rect">
            <a:avLst/>
          </a:prstGeom>
          <a:solidFill>
            <a:srgbClr val="131C2E"/>
          </a:solidFill>
          <a:ln w="12700">
            <a:solidFill>
              <a:srgbClr val="0D9488"/>
            </a:solidFill>
            <a:prstDash val="solid"/>
          </a:ln>
          <a:effectLst>
            <a:outerShdw sx="100000" sy="100000" kx="0" ky="0" algn="bl" rotWithShape="0" blurRad="152400" dist="50800" dir="8100000">
              <a:srgbClr val="000000">
                <a:alpha val="25000"/>
              </a:srgbClr>
            </a:outerShdw>
          </a:effectLst>
        </p:spPr>
      </p:sp>
      <p:sp>
        <p:nvSpPr>
          <p:cNvPr id="11" name="Shape 8"/>
          <p:cNvSpPr/>
          <p:nvPr/>
        </p:nvSpPr>
        <p:spPr>
          <a:xfrm>
            <a:off x="6217920" y="777240"/>
            <a:ext cx="2560320" cy="54864"/>
          </a:xfrm>
          <a:prstGeom prst="rect">
            <a:avLst/>
          </a:prstGeom>
          <a:solidFill>
            <a:srgbClr val="0D9488"/>
          </a:solidFill>
          <a:ln/>
        </p:spPr>
      </p:sp>
      <p:sp>
        <p:nvSpPr>
          <p:cNvPr id="12" name="Text 9"/>
          <p:cNvSpPr/>
          <p:nvPr/>
        </p:nvSpPr>
        <p:spPr>
          <a:xfrm>
            <a:off x="6263640" y="822960"/>
            <a:ext cx="2468880" cy="347472"/>
          </a:xfrm>
          <a:prstGeom prst="rect">
            <a:avLst/>
          </a:prstGeom>
          <a:noFill/>
          <a:ln/>
        </p:spPr>
        <p:txBody>
          <a:bodyPr wrap="square" lIns="0" tIns="0" rIns="0" bIns="0" rtlCol="0" anchor="ctr"/>
          <a:lstStyle/>
          <a:p>
            <a:pPr indent="0" marL="0">
              <a:buNone/>
            </a:pPr>
            <a:r>
              <a:rPr lang="en-US" sz="900" b="1" spc="200" kern="0" dirty="0">
                <a:solidFill>
                  <a:srgbClr val="0D9488"/>
                </a:solidFill>
                <a:latin typeface="Calibri" pitchFamily="34" charset="0"/>
                <a:ea typeface="Calibri" pitchFamily="34" charset="-122"/>
                <a:cs typeface="Calibri" pitchFamily="34" charset="-120"/>
              </a:rPr>
              <a:t>KEY INSIGHT</a:t>
            </a:r>
            <a:endParaRPr lang="en-US" sz="900" dirty="0"/>
          </a:p>
        </p:txBody>
      </p:sp>
      <p:sp>
        <p:nvSpPr>
          <p:cNvPr id="13" name="Text 10"/>
          <p:cNvSpPr/>
          <p:nvPr/>
        </p:nvSpPr>
        <p:spPr>
          <a:xfrm>
            <a:off x="6263640" y="1188720"/>
            <a:ext cx="2468880" cy="3383280"/>
          </a:xfrm>
          <a:prstGeom prst="rect">
            <a:avLst/>
          </a:prstGeom>
          <a:noFill/>
          <a:ln/>
        </p:spPr>
        <p:txBody>
          <a:bodyPr wrap="square" lIns="0" tIns="0" rIns="0" bIns="0" rtlCol="0" anchor="t"/>
          <a:lstStyle/>
          <a:p>
            <a:pPr indent="0" marL="0">
              <a:buNone/>
            </a:pPr>
            <a:r>
              <a:rPr lang="en-US" sz="1200" i="1" dirty="0">
                <a:solidFill>
                  <a:srgbClr val="E2E8F0"/>
                </a:solidFill>
                <a:latin typeface="Georgia" pitchFamily="34" charset="0"/>
                <a:ea typeface="Georgia" pitchFamily="34" charset="-122"/>
                <a:cs typeface="Georgia" pitchFamily="34" charset="-120"/>
              </a:rPr>
              <a:t>The framework was never designed for this. But someone has to fill the gap.</a:t>
            </a:r>
            <a:endParaRPr lang="en-US" sz="1200" dirty="0"/>
          </a:p>
        </p:txBody>
      </p:sp>
      <p:sp>
        <p:nvSpPr>
          <p:cNvPr id="14" name="Text 11"/>
          <p:cNvSpPr/>
          <p:nvPr/>
        </p:nvSpPr>
        <p:spPr>
          <a:xfrm>
            <a:off x="411480" y="777240"/>
            <a:ext cx="5486400" cy="54864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AI-generated outputs are flowing into backlogs and decision points right now — with no governance layer to catch them.</a:t>
            </a:r>
            <a:endParaRPr lang="en-US" sz="1300" dirty="0"/>
          </a:p>
        </p:txBody>
      </p:sp>
      <p:sp>
        <p:nvSpPr>
          <p:cNvPr id="15" name="Text 12"/>
          <p:cNvSpPr/>
          <p:nvPr/>
        </p:nvSpPr>
        <p:spPr>
          <a:xfrm>
            <a:off x="411480" y="1371600"/>
            <a:ext cx="5486400" cy="34518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LLMs drafting user stories before the PO speaks</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Predictive models shaping velocity forecasts and priorities</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AI tools synthesising retrospective themes automatically</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Sprint review summaries auto-generated from meeting transcripts</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Standard Scrum has no ceremony or DoD clause for any of this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623"/>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0F1A"/>
          </a:solidFill>
          <a:ln/>
        </p:spPr>
      </p:sp>
      <p:sp>
        <p:nvSpPr>
          <p:cNvPr id="3" name="Shape 1"/>
          <p:cNvSpPr/>
          <p:nvPr/>
        </p:nvSpPr>
        <p:spPr>
          <a:xfrm>
            <a:off x="0" y="0"/>
            <a:ext cx="109728" cy="658368"/>
          </a:xfrm>
          <a:prstGeom prst="rect">
            <a:avLst/>
          </a:prstGeom>
          <a:solidFill>
            <a:srgbClr val="0D9488"/>
          </a:solidFill>
          <a:ln/>
        </p:spPr>
      </p:sp>
      <p:sp>
        <p:nvSpPr>
          <p:cNvPr id="4" name="Text 2"/>
          <p:cNvSpPr/>
          <p:nvPr/>
        </p:nvSpPr>
        <p:spPr>
          <a:xfrm>
            <a:off x="256032" y="0"/>
            <a:ext cx="7498080" cy="658368"/>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This Is a Delivery Problem, Not Just a Data Problem</a:t>
            </a:r>
            <a:endParaRPr lang="en-US" sz="1800" dirty="0"/>
          </a:p>
        </p:txBody>
      </p:sp>
      <p:sp>
        <p:nvSpPr>
          <p:cNvPr id="5" name="Text 3"/>
          <p:cNvSpPr/>
          <p:nvPr/>
        </p:nvSpPr>
        <p:spPr>
          <a:xfrm>
            <a:off x="8321040" y="0"/>
            <a:ext cx="658368" cy="65836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3</a:t>
            </a:r>
            <a:endParaRPr lang="en-US" sz="1100" dirty="0"/>
          </a:p>
        </p:txBody>
      </p:sp>
      <p:sp>
        <p:nvSpPr>
          <p:cNvPr id="6" name="Shape 4"/>
          <p:cNvSpPr/>
          <p:nvPr/>
        </p:nvSpPr>
        <p:spPr>
          <a:xfrm>
            <a:off x="0" y="4956048"/>
            <a:ext cx="9144000" cy="187452"/>
          </a:xfrm>
          <a:prstGeom prst="rect">
            <a:avLst/>
          </a:prstGeom>
          <a:solidFill>
            <a:srgbClr val="0A0F1A"/>
          </a:solidFill>
          <a:ln/>
        </p:spPr>
      </p:sp>
      <p:sp>
        <p:nvSpPr>
          <p:cNvPr id="7" name="Text 5"/>
          <p:cNvSpPr/>
          <p:nvPr/>
        </p:nvSpPr>
        <p:spPr>
          <a:xfrm>
            <a:off x="256032" y="49651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Data Mastery  ·  datamastery.com.au</a:t>
            </a:r>
            <a:endParaRPr lang="en-US" sz="800" dirty="0"/>
          </a:p>
        </p:txBody>
      </p:sp>
      <p:sp>
        <p:nvSpPr>
          <p:cNvPr id="8" name="Text 6"/>
          <p:cNvSpPr/>
          <p:nvPr/>
        </p:nvSpPr>
        <p:spPr>
          <a:xfrm>
            <a:off x="6858000" y="4965192"/>
            <a:ext cx="210312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 2026 Vinnie Kura</a:t>
            </a:r>
            <a:endParaRPr lang="en-US" sz="800" dirty="0"/>
          </a:p>
        </p:txBody>
      </p:sp>
      <p:sp>
        <p:nvSpPr>
          <p:cNvPr id="10" name="Shape 7"/>
          <p:cNvSpPr/>
          <p:nvPr/>
        </p:nvSpPr>
        <p:spPr>
          <a:xfrm>
            <a:off x="457200" y="822960"/>
            <a:ext cx="2560320" cy="2560320"/>
          </a:xfrm>
          <a:prstGeom prst="rect">
            <a:avLst/>
          </a:prstGeom>
          <a:solidFill>
            <a:srgbClr val="131C2E"/>
          </a:solidFill>
          <a:ln w="12700">
            <a:solidFill>
              <a:srgbClr val="134E4A"/>
            </a:solidFill>
            <a:prstDash val="solid"/>
          </a:ln>
          <a:effectLst>
            <a:outerShdw sx="100000" sy="100000" kx="0" ky="0" algn="bl" rotWithShape="0" blurRad="152400" dist="50800" dir="8100000">
              <a:srgbClr val="000000">
                <a:alpha val="25000"/>
              </a:srgbClr>
            </a:outerShdw>
          </a:effectLst>
        </p:spPr>
      </p:sp>
      <p:sp>
        <p:nvSpPr>
          <p:cNvPr id="11" name="Shape 8"/>
          <p:cNvSpPr/>
          <p:nvPr/>
        </p:nvSpPr>
        <p:spPr>
          <a:xfrm>
            <a:off x="457200" y="822960"/>
            <a:ext cx="2560320" cy="64008"/>
          </a:xfrm>
          <a:prstGeom prst="rect">
            <a:avLst/>
          </a:prstGeom>
          <a:solidFill>
            <a:srgbClr val="0D9488"/>
          </a:solidFill>
          <a:ln/>
        </p:spPr>
      </p:sp>
      <p:sp>
        <p:nvSpPr>
          <p:cNvPr id="12" name="Text 9"/>
          <p:cNvSpPr/>
          <p:nvPr/>
        </p:nvSpPr>
        <p:spPr>
          <a:xfrm>
            <a:off x="594360" y="1005840"/>
            <a:ext cx="2286000" cy="1097280"/>
          </a:xfrm>
          <a:prstGeom prst="rect">
            <a:avLst/>
          </a:prstGeom>
          <a:noFill/>
          <a:ln/>
        </p:spPr>
        <p:txBody>
          <a:bodyPr wrap="square" lIns="0" tIns="0" rIns="0" bIns="0" rtlCol="0" anchor="ctr"/>
          <a:lstStyle/>
          <a:p>
            <a:pPr algn="ctr" indent="0" marL="0">
              <a:buNone/>
            </a:pPr>
            <a:r>
              <a:rPr lang="en-US" sz="4200" dirty="0">
                <a:solidFill>
                  <a:srgbClr val="0D9488"/>
                </a:solidFill>
                <a:latin typeface="Georgia" pitchFamily="34" charset="0"/>
                <a:ea typeface="Georgia" pitchFamily="34" charset="-122"/>
                <a:cs typeface="Georgia" pitchFamily="34" charset="-120"/>
              </a:rPr>
              <a:t>3</a:t>
            </a:r>
            <a:endParaRPr lang="en-US" sz="4200" dirty="0"/>
          </a:p>
        </p:txBody>
      </p:sp>
      <p:sp>
        <p:nvSpPr>
          <p:cNvPr id="13" name="Text 10"/>
          <p:cNvSpPr/>
          <p:nvPr/>
        </p:nvSpPr>
        <p:spPr>
          <a:xfrm>
            <a:off x="548640" y="2103120"/>
            <a:ext cx="2377440" cy="548640"/>
          </a:xfrm>
          <a:prstGeom prst="rect">
            <a:avLst/>
          </a:prstGeom>
          <a:noFill/>
          <a:ln/>
        </p:spPr>
        <p:txBody>
          <a:bodyPr wrap="square" lIns="0" tIns="0" rIns="0" bIns="0" rtlCol="0" anchor="ctr"/>
          <a:lstStyle/>
          <a:p>
            <a:pPr algn="ctr" indent="0" marL="0">
              <a:buNone/>
            </a:pPr>
            <a:r>
              <a:rPr lang="en-US" sz="1100" b="1" dirty="0">
                <a:solidFill>
                  <a:srgbClr val="E2E8F0"/>
                </a:solidFill>
                <a:latin typeface="Calibri" pitchFamily="34" charset="0"/>
                <a:ea typeface="Calibri" pitchFamily="34" charset="-122"/>
                <a:cs typeface="Calibri" pitchFamily="34" charset="-120"/>
              </a:rPr>
              <a:t>Sprints</a:t>
            </a:r>
            <a:endParaRPr lang="en-US" sz="1100" dirty="0"/>
          </a:p>
        </p:txBody>
      </p:sp>
      <p:sp>
        <p:nvSpPr>
          <p:cNvPr id="14" name="Text 11"/>
          <p:cNvSpPr/>
          <p:nvPr/>
        </p:nvSpPr>
        <p:spPr>
          <a:xfrm>
            <a:off x="548640" y="2697480"/>
            <a:ext cx="2377440" cy="4572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Before a team noticed AI stories consistently underrepresented a key user segment</a:t>
            </a:r>
            <a:endParaRPr lang="en-US" sz="900" dirty="0"/>
          </a:p>
        </p:txBody>
      </p:sp>
      <p:sp>
        <p:nvSpPr>
          <p:cNvPr id="15" name="Shape 12"/>
          <p:cNvSpPr/>
          <p:nvPr/>
        </p:nvSpPr>
        <p:spPr>
          <a:xfrm>
            <a:off x="3291840" y="822960"/>
            <a:ext cx="2560320" cy="2560320"/>
          </a:xfrm>
          <a:prstGeom prst="rect">
            <a:avLst/>
          </a:prstGeom>
          <a:solidFill>
            <a:srgbClr val="131C2E"/>
          </a:solidFill>
          <a:ln w="12700">
            <a:solidFill>
              <a:srgbClr val="134E4A"/>
            </a:solidFill>
            <a:prstDash val="solid"/>
          </a:ln>
          <a:effectLst>
            <a:outerShdw sx="100000" sy="100000" kx="0" ky="0" algn="bl" rotWithShape="0" blurRad="152400" dist="50800" dir="8100000">
              <a:srgbClr val="000000">
                <a:alpha val="25000"/>
              </a:srgbClr>
            </a:outerShdw>
          </a:effectLst>
        </p:spPr>
      </p:sp>
      <p:sp>
        <p:nvSpPr>
          <p:cNvPr id="16" name="Shape 13"/>
          <p:cNvSpPr/>
          <p:nvPr/>
        </p:nvSpPr>
        <p:spPr>
          <a:xfrm>
            <a:off x="3291840" y="822960"/>
            <a:ext cx="2560320" cy="64008"/>
          </a:xfrm>
          <a:prstGeom prst="rect">
            <a:avLst/>
          </a:prstGeom>
          <a:solidFill>
            <a:srgbClr val="0D9488"/>
          </a:solidFill>
          <a:ln/>
        </p:spPr>
      </p:sp>
      <p:sp>
        <p:nvSpPr>
          <p:cNvPr id="17" name="Text 14"/>
          <p:cNvSpPr/>
          <p:nvPr/>
        </p:nvSpPr>
        <p:spPr>
          <a:xfrm>
            <a:off x="3429000" y="1005840"/>
            <a:ext cx="2286000" cy="1097280"/>
          </a:xfrm>
          <a:prstGeom prst="rect">
            <a:avLst/>
          </a:prstGeom>
          <a:noFill/>
          <a:ln/>
        </p:spPr>
        <p:txBody>
          <a:bodyPr wrap="square" lIns="0" tIns="0" rIns="0" bIns="0" rtlCol="0" anchor="ctr"/>
          <a:lstStyle/>
          <a:p>
            <a:pPr algn="ctr" indent="0" marL="0">
              <a:buNone/>
            </a:pPr>
            <a:r>
              <a:rPr lang="en-US" sz="4200" dirty="0">
                <a:solidFill>
                  <a:srgbClr val="0D9488"/>
                </a:solidFill>
                <a:latin typeface="Georgia" pitchFamily="34" charset="0"/>
                <a:ea typeface="Georgia" pitchFamily="34" charset="-122"/>
                <a:cs typeface="Georgia" pitchFamily="34" charset="-120"/>
              </a:rPr>
              <a:t>0</a:t>
            </a:r>
            <a:endParaRPr lang="en-US" sz="4200" dirty="0"/>
          </a:p>
        </p:txBody>
      </p:sp>
      <p:sp>
        <p:nvSpPr>
          <p:cNvPr id="18" name="Text 15"/>
          <p:cNvSpPr/>
          <p:nvPr/>
        </p:nvSpPr>
        <p:spPr>
          <a:xfrm>
            <a:off x="3383280" y="2103120"/>
            <a:ext cx="2377440" cy="548640"/>
          </a:xfrm>
          <a:prstGeom prst="rect">
            <a:avLst/>
          </a:prstGeom>
          <a:noFill/>
          <a:ln/>
        </p:spPr>
        <p:txBody>
          <a:bodyPr wrap="square" lIns="0" tIns="0" rIns="0" bIns="0" rtlCol="0" anchor="ctr"/>
          <a:lstStyle/>
          <a:p>
            <a:pPr algn="ctr" indent="0" marL="0">
              <a:buNone/>
            </a:pPr>
            <a:r>
              <a:rPr lang="en-US" sz="1100" b="1" dirty="0">
                <a:solidFill>
                  <a:srgbClr val="E2E8F0"/>
                </a:solidFill>
                <a:latin typeface="Calibri" pitchFamily="34" charset="0"/>
                <a:ea typeface="Calibri" pitchFamily="34" charset="-122"/>
                <a:cs typeface="Calibri" pitchFamily="34" charset="-120"/>
              </a:rPr>
              <a:t>DoD Clauses</a:t>
            </a:r>
            <a:endParaRPr lang="en-US" sz="1100" dirty="0"/>
          </a:p>
        </p:txBody>
      </p:sp>
      <p:sp>
        <p:nvSpPr>
          <p:cNvPr id="19" name="Text 16"/>
          <p:cNvSpPr/>
          <p:nvPr/>
        </p:nvSpPr>
        <p:spPr>
          <a:xfrm>
            <a:off x="3383280" y="2697480"/>
            <a:ext cx="2377440" cy="4572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In standard Scrum that address story provenance or model bias</a:t>
            </a:r>
            <a:endParaRPr lang="en-US" sz="900" dirty="0"/>
          </a:p>
        </p:txBody>
      </p:sp>
      <p:sp>
        <p:nvSpPr>
          <p:cNvPr id="20" name="Shape 17"/>
          <p:cNvSpPr/>
          <p:nvPr/>
        </p:nvSpPr>
        <p:spPr>
          <a:xfrm>
            <a:off x="6126480" y="822960"/>
            <a:ext cx="2560320" cy="2560320"/>
          </a:xfrm>
          <a:prstGeom prst="rect">
            <a:avLst/>
          </a:prstGeom>
          <a:solidFill>
            <a:srgbClr val="131C2E"/>
          </a:solidFill>
          <a:ln w="12700">
            <a:solidFill>
              <a:srgbClr val="134E4A"/>
            </a:solidFill>
            <a:prstDash val="solid"/>
          </a:ln>
          <a:effectLst>
            <a:outerShdw sx="100000" sy="100000" kx="0" ky="0" algn="bl" rotWithShape="0" blurRad="152400" dist="50800" dir="8100000">
              <a:srgbClr val="000000">
                <a:alpha val="25000"/>
              </a:srgbClr>
            </a:outerShdw>
          </a:effectLst>
        </p:spPr>
      </p:sp>
      <p:sp>
        <p:nvSpPr>
          <p:cNvPr id="21" name="Shape 18"/>
          <p:cNvSpPr/>
          <p:nvPr/>
        </p:nvSpPr>
        <p:spPr>
          <a:xfrm>
            <a:off x="6126480" y="822960"/>
            <a:ext cx="2560320" cy="64008"/>
          </a:xfrm>
          <a:prstGeom prst="rect">
            <a:avLst/>
          </a:prstGeom>
          <a:solidFill>
            <a:srgbClr val="0D9488"/>
          </a:solidFill>
          <a:ln/>
        </p:spPr>
      </p:sp>
      <p:sp>
        <p:nvSpPr>
          <p:cNvPr id="22" name="Text 19"/>
          <p:cNvSpPr/>
          <p:nvPr/>
        </p:nvSpPr>
        <p:spPr>
          <a:xfrm>
            <a:off x="6263640" y="1005840"/>
            <a:ext cx="2286000" cy="1097280"/>
          </a:xfrm>
          <a:prstGeom prst="rect">
            <a:avLst/>
          </a:prstGeom>
          <a:noFill/>
          <a:ln/>
        </p:spPr>
        <p:txBody>
          <a:bodyPr wrap="square" lIns="0" tIns="0" rIns="0" bIns="0" rtlCol="0" anchor="ctr"/>
          <a:lstStyle/>
          <a:p>
            <a:pPr algn="ctr" indent="0" marL="0">
              <a:buNone/>
            </a:pPr>
            <a:r>
              <a:rPr lang="en-US" sz="4200" dirty="0">
                <a:solidFill>
                  <a:srgbClr val="0D9488"/>
                </a:solidFill>
                <a:latin typeface="Georgia" pitchFamily="34" charset="0"/>
                <a:ea typeface="Georgia" pitchFamily="34" charset="-122"/>
                <a:cs typeface="Georgia" pitchFamily="34" charset="-120"/>
              </a:rPr>
              <a:t>1</a:t>
            </a:r>
            <a:endParaRPr lang="en-US" sz="4200" dirty="0"/>
          </a:p>
        </p:txBody>
      </p:sp>
      <p:sp>
        <p:nvSpPr>
          <p:cNvPr id="23" name="Text 20"/>
          <p:cNvSpPr/>
          <p:nvPr/>
        </p:nvSpPr>
        <p:spPr>
          <a:xfrm>
            <a:off x="6217920" y="2103120"/>
            <a:ext cx="2377440" cy="548640"/>
          </a:xfrm>
          <a:prstGeom prst="rect">
            <a:avLst/>
          </a:prstGeom>
          <a:noFill/>
          <a:ln/>
        </p:spPr>
        <p:txBody>
          <a:bodyPr wrap="square" lIns="0" tIns="0" rIns="0" bIns="0" rtlCol="0" anchor="ctr"/>
          <a:lstStyle/>
          <a:p>
            <a:pPr algn="ctr" indent="0" marL="0">
              <a:buNone/>
            </a:pPr>
            <a:r>
              <a:rPr lang="en-US" sz="1100" b="1" dirty="0">
                <a:solidFill>
                  <a:srgbClr val="E2E8F0"/>
                </a:solidFill>
                <a:latin typeface="Calibri" pitchFamily="34" charset="0"/>
                <a:ea typeface="Calibri" pitchFamily="34" charset="-122"/>
                <a:cs typeface="Calibri" pitchFamily="34" charset="-120"/>
              </a:rPr>
              <a:t>Role</a:t>
            </a:r>
            <a:endParaRPr lang="en-US" sz="1100" dirty="0"/>
          </a:p>
        </p:txBody>
      </p:sp>
      <p:sp>
        <p:nvSpPr>
          <p:cNvPr id="24" name="Text 21"/>
          <p:cNvSpPr/>
          <p:nvPr/>
        </p:nvSpPr>
        <p:spPr>
          <a:xfrm>
            <a:off x="6217920" y="2697480"/>
            <a:ext cx="2377440" cy="4572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Accountable for process integrity — the Scrum Master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623"/>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0F1A"/>
          </a:solidFill>
          <a:ln/>
        </p:spPr>
      </p:sp>
      <p:sp>
        <p:nvSpPr>
          <p:cNvPr id="3" name="Shape 1"/>
          <p:cNvSpPr/>
          <p:nvPr/>
        </p:nvSpPr>
        <p:spPr>
          <a:xfrm>
            <a:off x="0" y="0"/>
            <a:ext cx="109728" cy="658368"/>
          </a:xfrm>
          <a:prstGeom prst="rect">
            <a:avLst/>
          </a:prstGeom>
          <a:solidFill>
            <a:srgbClr val="0D9488"/>
          </a:solidFill>
          <a:ln/>
        </p:spPr>
      </p:sp>
      <p:sp>
        <p:nvSpPr>
          <p:cNvPr id="4" name="Text 2"/>
          <p:cNvSpPr/>
          <p:nvPr/>
        </p:nvSpPr>
        <p:spPr>
          <a:xfrm>
            <a:off x="256032" y="0"/>
            <a:ext cx="7498080" cy="658368"/>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The Scrum Master as Practical Governance Owner</a:t>
            </a:r>
            <a:endParaRPr lang="en-US" sz="1800" dirty="0"/>
          </a:p>
        </p:txBody>
      </p:sp>
      <p:sp>
        <p:nvSpPr>
          <p:cNvPr id="5" name="Text 3"/>
          <p:cNvSpPr/>
          <p:nvPr/>
        </p:nvSpPr>
        <p:spPr>
          <a:xfrm>
            <a:off x="8321040" y="0"/>
            <a:ext cx="658368" cy="65836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4</a:t>
            </a:r>
            <a:endParaRPr lang="en-US" sz="1100" dirty="0"/>
          </a:p>
        </p:txBody>
      </p:sp>
      <p:sp>
        <p:nvSpPr>
          <p:cNvPr id="6" name="Shape 4"/>
          <p:cNvSpPr/>
          <p:nvPr/>
        </p:nvSpPr>
        <p:spPr>
          <a:xfrm>
            <a:off x="0" y="4956048"/>
            <a:ext cx="9144000" cy="187452"/>
          </a:xfrm>
          <a:prstGeom prst="rect">
            <a:avLst/>
          </a:prstGeom>
          <a:solidFill>
            <a:srgbClr val="0A0F1A"/>
          </a:solidFill>
          <a:ln/>
        </p:spPr>
      </p:sp>
      <p:sp>
        <p:nvSpPr>
          <p:cNvPr id="7" name="Text 5"/>
          <p:cNvSpPr/>
          <p:nvPr/>
        </p:nvSpPr>
        <p:spPr>
          <a:xfrm>
            <a:off x="256032" y="49651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Data Mastery  ·  datamastery.com.au</a:t>
            </a:r>
            <a:endParaRPr lang="en-US" sz="800" dirty="0"/>
          </a:p>
        </p:txBody>
      </p:sp>
      <p:sp>
        <p:nvSpPr>
          <p:cNvPr id="8" name="Text 6"/>
          <p:cNvSpPr/>
          <p:nvPr/>
        </p:nvSpPr>
        <p:spPr>
          <a:xfrm>
            <a:off x="6858000" y="4965192"/>
            <a:ext cx="210312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 2026 Vinnie Kura</a:t>
            </a:r>
            <a:endParaRPr lang="en-US" sz="800" dirty="0"/>
          </a:p>
        </p:txBody>
      </p:sp>
      <p:sp>
        <p:nvSpPr>
          <p:cNvPr id="10" name="Shape 7"/>
          <p:cNvSpPr/>
          <p:nvPr/>
        </p:nvSpPr>
        <p:spPr>
          <a:xfrm>
            <a:off x="365760" y="777240"/>
            <a:ext cx="3840480" cy="36576"/>
          </a:xfrm>
          <a:prstGeom prst="rect">
            <a:avLst/>
          </a:prstGeom>
          <a:solidFill>
            <a:srgbClr val="0D9488"/>
          </a:solidFill>
          <a:ln/>
        </p:spPr>
      </p:sp>
      <p:sp>
        <p:nvSpPr>
          <p:cNvPr id="11" name="Text 8"/>
          <p:cNvSpPr/>
          <p:nvPr/>
        </p:nvSpPr>
        <p:spPr>
          <a:xfrm>
            <a:off x="365760" y="822960"/>
            <a:ext cx="3840480" cy="41148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What AI Governance Looks Like Elsewhere</a:t>
            </a:r>
            <a:endParaRPr lang="en-US" sz="1300" dirty="0"/>
          </a:p>
        </p:txBody>
      </p:sp>
      <p:sp>
        <p:nvSpPr>
          <p:cNvPr id="12" name="Shape 9"/>
          <p:cNvSpPr/>
          <p:nvPr/>
        </p:nvSpPr>
        <p:spPr>
          <a:xfrm>
            <a:off x="4937760" y="777240"/>
            <a:ext cx="3840480" cy="36576"/>
          </a:xfrm>
          <a:prstGeom prst="rect">
            <a:avLst/>
          </a:prstGeom>
          <a:solidFill>
            <a:srgbClr val="F59E0B"/>
          </a:solidFill>
          <a:ln/>
        </p:spPr>
      </p:sp>
      <p:sp>
        <p:nvSpPr>
          <p:cNvPr id="13" name="Text 10"/>
          <p:cNvSpPr/>
          <p:nvPr/>
        </p:nvSpPr>
        <p:spPr>
          <a:xfrm>
            <a:off x="4937760" y="822960"/>
            <a:ext cx="3840480" cy="41148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What It Looks Like for Scrum Masters</a:t>
            </a:r>
            <a:endParaRPr lang="en-US" sz="1300" dirty="0"/>
          </a:p>
        </p:txBody>
      </p:sp>
      <p:sp>
        <p:nvSpPr>
          <p:cNvPr id="14" name="Shape 11"/>
          <p:cNvSpPr/>
          <p:nvPr/>
        </p:nvSpPr>
        <p:spPr>
          <a:xfrm>
            <a:off x="4572000" y="777240"/>
            <a:ext cx="0" cy="4023360"/>
          </a:xfrm>
          <a:prstGeom prst="line">
            <a:avLst/>
          </a:prstGeom>
          <a:noFill/>
          <a:ln w="12700">
            <a:solidFill>
              <a:srgbClr val="134E4A"/>
            </a:solidFill>
            <a:prstDash val="dash"/>
          </a:ln>
        </p:spPr>
      </p:sp>
      <p:sp>
        <p:nvSpPr>
          <p:cNvPr id="15" name="Text 12"/>
          <p:cNvSpPr/>
          <p:nvPr/>
        </p:nvSpPr>
        <p:spPr>
          <a:xfrm>
            <a:off x="365760" y="1325880"/>
            <a:ext cx="3931920" cy="33832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IT policy documents nobody reads mid-sprint</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Retrospective audits after damage is done</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Centralised review gates that slow delivery</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Abstract principles without ceremony hooks</a:t>
            </a:r>
            <a:endParaRPr lang="en-US" sz="1300" dirty="0"/>
          </a:p>
        </p:txBody>
      </p:sp>
      <p:sp>
        <p:nvSpPr>
          <p:cNvPr id="16" name="Text 13"/>
          <p:cNvSpPr/>
          <p:nvPr/>
        </p:nvSpPr>
        <p:spPr>
          <a:xfrm>
            <a:off x="4937760" y="1325880"/>
            <a:ext cx="3840480" cy="33832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Verbal provenance checks at Planning</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Human-in-the-loop habits at Daily Scrum</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Bias flags embedded in Review conversation</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Auditability built into the Definition of Done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623"/>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0F1A"/>
          </a:solidFill>
          <a:ln/>
        </p:spPr>
      </p:sp>
      <p:sp>
        <p:nvSpPr>
          <p:cNvPr id="3" name="Shape 1"/>
          <p:cNvSpPr/>
          <p:nvPr/>
        </p:nvSpPr>
        <p:spPr>
          <a:xfrm>
            <a:off x="0" y="0"/>
            <a:ext cx="109728" cy="658368"/>
          </a:xfrm>
          <a:prstGeom prst="rect">
            <a:avLst/>
          </a:prstGeom>
          <a:solidFill>
            <a:srgbClr val="0D9488"/>
          </a:solidFill>
          <a:ln/>
        </p:spPr>
      </p:sp>
      <p:sp>
        <p:nvSpPr>
          <p:cNvPr id="4" name="Text 2"/>
          <p:cNvSpPr/>
          <p:nvPr/>
        </p:nvSpPr>
        <p:spPr>
          <a:xfrm>
            <a:off x="256032" y="0"/>
            <a:ext cx="7498080" cy="658368"/>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Sprint Planning: Declare the Source</a:t>
            </a:r>
            <a:endParaRPr lang="en-US" sz="1800" dirty="0"/>
          </a:p>
        </p:txBody>
      </p:sp>
      <p:sp>
        <p:nvSpPr>
          <p:cNvPr id="5" name="Text 3"/>
          <p:cNvSpPr/>
          <p:nvPr/>
        </p:nvSpPr>
        <p:spPr>
          <a:xfrm>
            <a:off x="8321040" y="0"/>
            <a:ext cx="658368" cy="65836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5</a:t>
            </a:r>
            <a:endParaRPr lang="en-US" sz="1100" dirty="0"/>
          </a:p>
        </p:txBody>
      </p:sp>
      <p:sp>
        <p:nvSpPr>
          <p:cNvPr id="6" name="Shape 4"/>
          <p:cNvSpPr/>
          <p:nvPr/>
        </p:nvSpPr>
        <p:spPr>
          <a:xfrm>
            <a:off x="0" y="4956048"/>
            <a:ext cx="9144000" cy="187452"/>
          </a:xfrm>
          <a:prstGeom prst="rect">
            <a:avLst/>
          </a:prstGeom>
          <a:solidFill>
            <a:srgbClr val="0A0F1A"/>
          </a:solidFill>
          <a:ln/>
        </p:spPr>
      </p:sp>
      <p:sp>
        <p:nvSpPr>
          <p:cNvPr id="7" name="Text 5"/>
          <p:cNvSpPr/>
          <p:nvPr/>
        </p:nvSpPr>
        <p:spPr>
          <a:xfrm>
            <a:off x="256032" y="49651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Data Mastery  ·  datamastery.com.au</a:t>
            </a:r>
            <a:endParaRPr lang="en-US" sz="800" dirty="0"/>
          </a:p>
        </p:txBody>
      </p:sp>
      <p:sp>
        <p:nvSpPr>
          <p:cNvPr id="8" name="Text 6"/>
          <p:cNvSpPr/>
          <p:nvPr/>
        </p:nvSpPr>
        <p:spPr>
          <a:xfrm>
            <a:off x="6858000" y="4965192"/>
            <a:ext cx="210312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 2026 Vinnie Kura</a:t>
            </a:r>
            <a:endParaRPr lang="en-US" sz="800" dirty="0"/>
          </a:p>
        </p:txBody>
      </p:sp>
      <p:sp>
        <p:nvSpPr>
          <p:cNvPr id="10" name="Shape 7"/>
          <p:cNvSpPr/>
          <p:nvPr/>
        </p:nvSpPr>
        <p:spPr>
          <a:xfrm>
            <a:off x="365760" y="868680"/>
            <a:ext cx="502920" cy="502920"/>
          </a:xfrm>
          <a:prstGeom prst="ellipse">
            <a:avLst/>
          </a:prstGeom>
          <a:solidFill>
            <a:srgbClr val="0D9488"/>
          </a:solidFill>
          <a:ln/>
        </p:spPr>
      </p:sp>
      <p:sp>
        <p:nvSpPr>
          <p:cNvPr id="11" name="Text 8"/>
          <p:cNvSpPr/>
          <p:nvPr/>
        </p:nvSpPr>
        <p:spPr>
          <a:xfrm>
            <a:off x="365760" y="8686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2" name="Shape 9"/>
          <p:cNvSpPr/>
          <p:nvPr/>
        </p:nvSpPr>
        <p:spPr>
          <a:xfrm>
            <a:off x="612648" y="1371600"/>
            <a:ext cx="0" cy="566928"/>
          </a:xfrm>
          <a:prstGeom prst="line">
            <a:avLst/>
          </a:prstGeom>
          <a:noFill/>
          <a:ln w="12700">
            <a:solidFill>
              <a:srgbClr val="134E4A"/>
            </a:solidFill>
            <a:prstDash val="dash"/>
          </a:ln>
        </p:spPr>
      </p:sp>
      <p:sp>
        <p:nvSpPr>
          <p:cNvPr id="13" name="Shape 10"/>
          <p:cNvSpPr/>
          <p:nvPr/>
        </p:nvSpPr>
        <p:spPr>
          <a:xfrm>
            <a:off x="1051560" y="822960"/>
            <a:ext cx="7635240" cy="1005840"/>
          </a:xfrm>
          <a:prstGeom prst="rect">
            <a:avLst/>
          </a:prstGeom>
          <a:solidFill>
            <a:srgbClr val="131C2E"/>
          </a:solidFill>
          <a:ln w="12700">
            <a:solidFill>
              <a:srgbClr val="134E4A"/>
            </a:solidFill>
            <a:prstDash val="solid"/>
          </a:ln>
        </p:spPr>
      </p:sp>
      <p:sp>
        <p:nvSpPr>
          <p:cNvPr id="14" name="Text 11"/>
          <p:cNvSpPr/>
          <p:nvPr/>
        </p:nvSpPr>
        <p:spPr>
          <a:xfrm>
            <a:off x="1188720" y="859536"/>
            <a:ext cx="45720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Where did this come from?</a:t>
            </a:r>
            <a:endParaRPr lang="en-US" sz="1300" dirty="0"/>
          </a:p>
        </p:txBody>
      </p:sp>
      <p:sp>
        <p:nvSpPr>
          <p:cNvPr id="15" name="Text 12"/>
          <p:cNvSpPr/>
          <p:nvPr/>
        </p:nvSpPr>
        <p:spPr>
          <a:xfrm>
            <a:off x="1188720" y="1207008"/>
            <a:ext cx="7315200" cy="5486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Name the tool, data source, prompt version, or model used to generate the artefact</a:t>
            </a:r>
            <a:endParaRPr lang="en-US" sz="1100" dirty="0"/>
          </a:p>
        </p:txBody>
      </p:sp>
      <p:sp>
        <p:nvSpPr>
          <p:cNvPr id="16" name="Shape 13"/>
          <p:cNvSpPr/>
          <p:nvPr/>
        </p:nvSpPr>
        <p:spPr>
          <a:xfrm>
            <a:off x="365760" y="1984248"/>
            <a:ext cx="502920" cy="502920"/>
          </a:xfrm>
          <a:prstGeom prst="ellipse">
            <a:avLst/>
          </a:prstGeom>
          <a:solidFill>
            <a:srgbClr val="0D9488"/>
          </a:solidFill>
          <a:ln/>
        </p:spPr>
      </p:sp>
      <p:sp>
        <p:nvSpPr>
          <p:cNvPr id="17" name="Text 14"/>
          <p:cNvSpPr/>
          <p:nvPr/>
        </p:nvSpPr>
        <p:spPr>
          <a:xfrm>
            <a:off x="365760" y="19842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8" name="Shape 15"/>
          <p:cNvSpPr/>
          <p:nvPr/>
        </p:nvSpPr>
        <p:spPr>
          <a:xfrm>
            <a:off x="612648" y="2487168"/>
            <a:ext cx="0" cy="566928"/>
          </a:xfrm>
          <a:prstGeom prst="line">
            <a:avLst/>
          </a:prstGeom>
          <a:noFill/>
          <a:ln w="12700">
            <a:solidFill>
              <a:srgbClr val="134E4A"/>
            </a:solidFill>
            <a:prstDash val="dash"/>
          </a:ln>
        </p:spPr>
      </p:sp>
      <p:sp>
        <p:nvSpPr>
          <p:cNvPr id="19" name="Shape 16"/>
          <p:cNvSpPr/>
          <p:nvPr/>
        </p:nvSpPr>
        <p:spPr>
          <a:xfrm>
            <a:off x="1051560" y="1938528"/>
            <a:ext cx="7635240" cy="1005840"/>
          </a:xfrm>
          <a:prstGeom prst="rect">
            <a:avLst/>
          </a:prstGeom>
          <a:solidFill>
            <a:srgbClr val="131C2E"/>
          </a:solidFill>
          <a:ln w="12700">
            <a:solidFill>
              <a:srgbClr val="134E4A"/>
            </a:solidFill>
            <a:prstDash val="solid"/>
          </a:ln>
        </p:spPr>
      </p:sp>
      <p:sp>
        <p:nvSpPr>
          <p:cNvPr id="20" name="Text 17"/>
          <p:cNvSpPr/>
          <p:nvPr/>
        </p:nvSpPr>
        <p:spPr>
          <a:xfrm>
            <a:off x="1188720" y="1975104"/>
            <a:ext cx="45720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Has a human evaluated it?</a:t>
            </a:r>
            <a:endParaRPr lang="en-US" sz="1300" dirty="0"/>
          </a:p>
        </p:txBody>
      </p:sp>
      <p:sp>
        <p:nvSpPr>
          <p:cNvPr id="21" name="Text 18"/>
          <p:cNvSpPr/>
          <p:nvPr/>
        </p:nvSpPr>
        <p:spPr>
          <a:xfrm>
            <a:off x="1188720" y="2322576"/>
            <a:ext cx="7315200" cy="5486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Not just read — actively assessed whether it reflects the right user need and context</a:t>
            </a:r>
            <a:endParaRPr lang="en-US" sz="1100" dirty="0"/>
          </a:p>
        </p:txBody>
      </p:sp>
      <p:sp>
        <p:nvSpPr>
          <p:cNvPr id="22" name="Shape 19"/>
          <p:cNvSpPr/>
          <p:nvPr/>
        </p:nvSpPr>
        <p:spPr>
          <a:xfrm>
            <a:off x="365760" y="3099816"/>
            <a:ext cx="502920" cy="502920"/>
          </a:xfrm>
          <a:prstGeom prst="ellipse">
            <a:avLst/>
          </a:prstGeom>
          <a:solidFill>
            <a:srgbClr val="0D9488"/>
          </a:solidFill>
          <a:ln/>
        </p:spPr>
      </p:sp>
      <p:sp>
        <p:nvSpPr>
          <p:cNvPr id="23" name="Text 20"/>
          <p:cNvSpPr/>
          <p:nvPr/>
        </p:nvSpPr>
        <p:spPr>
          <a:xfrm>
            <a:off x="365760" y="3099816"/>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4" name="Shape 21"/>
          <p:cNvSpPr/>
          <p:nvPr/>
        </p:nvSpPr>
        <p:spPr>
          <a:xfrm>
            <a:off x="1051560" y="3054096"/>
            <a:ext cx="7635240" cy="1005840"/>
          </a:xfrm>
          <a:prstGeom prst="rect">
            <a:avLst/>
          </a:prstGeom>
          <a:solidFill>
            <a:srgbClr val="131C2E"/>
          </a:solidFill>
          <a:ln w="12700">
            <a:solidFill>
              <a:srgbClr val="134E4A"/>
            </a:solidFill>
            <a:prstDash val="solid"/>
          </a:ln>
        </p:spPr>
      </p:sp>
      <p:sp>
        <p:nvSpPr>
          <p:cNvPr id="25" name="Text 22"/>
          <p:cNvSpPr/>
          <p:nvPr/>
        </p:nvSpPr>
        <p:spPr>
          <a:xfrm>
            <a:off x="1188720" y="3090672"/>
            <a:ext cx="45720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can't this output tell us?</a:t>
            </a:r>
            <a:endParaRPr lang="en-US" sz="1300" dirty="0"/>
          </a:p>
        </p:txBody>
      </p:sp>
      <p:sp>
        <p:nvSpPr>
          <p:cNvPr id="26" name="Text 23"/>
          <p:cNvSpPr/>
          <p:nvPr/>
        </p:nvSpPr>
        <p:spPr>
          <a:xfrm>
            <a:off x="1188720" y="3438144"/>
            <a:ext cx="7315200" cy="5486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Identify the blind spots: analytics-driven stories miss user emotion, not just behaviour</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623"/>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0F1A"/>
          </a:solidFill>
          <a:ln/>
        </p:spPr>
      </p:sp>
      <p:sp>
        <p:nvSpPr>
          <p:cNvPr id="3" name="Shape 1"/>
          <p:cNvSpPr/>
          <p:nvPr/>
        </p:nvSpPr>
        <p:spPr>
          <a:xfrm>
            <a:off x="0" y="0"/>
            <a:ext cx="109728" cy="658368"/>
          </a:xfrm>
          <a:prstGeom prst="rect">
            <a:avLst/>
          </a:prstGeom>
          <a:solidFill>
            <a:srgbClr val="0D9488"/>
          </a:solidFill>
          <a:ln/>
        </p:spPr>
      </p:sp>
      <p:sp>
        <p:nvSpPr>
          <p:cNvPr id="4" name="Text 2"/>
          <p:cNvSpPr/>
          <p:nvPr/>
        </p:nvSpPr>
        <p:spPr>
          <a:xfrm>
            <a:off x="256032" y="0"/>
            <a:ext cx="7498080" cy="658368"/>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Daily Scrum: Don't Report to the Machine</a:t>
            </a:r>
            <a:endParaRPr lang="en-US" sz="1800" dirty="0"/>
          </a:p>
        </p:txBody>
      </p:sp>
      <p:sp>
        <p:nvSpPr>
          <p:cNvPr id="5" name="Text 3"/>
          <p:cNvSpPr/>
          <p:nvPr/>
        </p:nvSpPr>
        <p:spPr>
          <a:xfrm>
            <a:off x="8321040" y="0"/>
            <a:ext cx="658368" cy="65836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6</a:t>
            </a:r>
            <a:endParaRPr lang="en-US" sz="1100" dirty="0"/>
          </a:p>
        </p:txBody>
      </p:sp>
      <p:sp>
        <p:nvSpPr>
          <p:cNvPr id="6" name="Shape 4"/>
          <p:cNvSpPr/>
          <p:nvPr/>
        </p:nvSpPr>
        <p:spPr>
          <a:xfrm>
            <a:off x="0" y="4956048"/>
            <a:ext cx="9144000" cy="187452"/>
          </a:xfrm>
          <a:prstGeom prst="rect">
            <a:avLst/>
          </a:prstGeom>
          <a:solidFill>
            <a:srgbClr val="0A0F1A"/>
          </a:solidFill>
          <a:ln/>
        </p:spPr>
      </p:sp>
      <p:sp>
        <p:nvSpPr>
          <p:cNvPr id="7" name="Text 5"/>
          <p:cNvSpPr/>
          <p:nvPr/>
        </p:nvSpPr>
        <p:spPr>
          <a:xfrm>
            <a:off x="256032" y="49651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Data Mastery  ·  datamastery.com.au</a:t>
            </a:r>
            <a:endParaRPr lang="en-US" sz="800" dirty="0"/>
          </a:p>
        </p:txBody>
      </p:sp>
      <p:sp>
        <p:nvSpPr>
          <p:cNvPr id="8" name="Text 6"/>
          <p:cNvSpPr/>
          <p:nvPr/>
        </p:nvSpPr>
        <p:spPr>
          <a:xfrm>
            <a:off x="6858000" y="4965192"/>
            <a:ext cx="210312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 2026 Vinnie Kura</a:t>
            </a:r>
            <a:endParaRPr lang="en-US" sz="800" dirty="0"/>
          </a:p>
        </p:txBody>
      </p:sp>
      <p:sp>
        <p:nvSpPr>
          <p:cNvPr id="10" name="Shape 7"/>
          <p:cNvSpPr/>
          <p:nvPr/>
        </p:nvSpPr>
        <p:spPr>
          <a:xfrm>
            <a:off x="457200" y="777240"/>
            <a:ext cx="8229600" cy="3200400"/>
          </a:xfrm>
          <a:prstGeom prst="rect">
            <a:avLst/>
          </a:prstGeom>
          <a:solidFill>
            <a:srgbClr val="131C2E"/>
          </a:solidFill>
          <a:ln w="12700">
            <a:solidFill>
              <a:srgbClr val="134E4A"/>
            </a:solidFill>
            <a:prstDash val="solid"/>
          </a:ln>
          <a:effectLst>
            <a:outerShdw sx="100000" sy="100000" kx="0" ky="0" algn="bl" rotWithShape="0" blurRad="152400" dist="50800" dir="8100000">
              <a:srgbClr val="000000">
                <a:alpha val="25000"/>
              </a:srgbClr>
            </a:outerShdw>
          </a:effectLst>
        </p:spPr>
      </p:sp>
      <p:sp>
        <p:nvSpPr>
          <p:cNvPr id="11" name="Shape 8"/>
          <p:cNvSpPr/>
          <p:nvPr/>
        </p:nvSpPr>
        <p:spPr>
          <a:xfrm>
            <a:off x="457200" y="777240"/>
            <a:ext cx="109728" cy="3200400"/>
          </a:xfrm>
          <a:prstGeom prst="rect">
            <a:avLst/>
          </a:prstGeom>
          <a:solidFill>
            <a:srgbClr val="0D9488"/>
          </a:solidFill>
          <a:ln/>
        </p:spPr>
      </p:sp>
      <p:sp>
        <p:nvSpPr>
          <p:cNvPr id="12" name="Text 9"/>
          <p:cNvSpPr/>
          <p:nvPr/>
        </p:nvSpPr>
        <p:spPr>
          <a:xfrm>
            <a:off x="731520" y="822960"/>
            <a:ext cx="914400" cy="914400"/>
          </a:xfrm>
          <a:prstGeom prst="rect">
            <a:avLst/>
          </a:prstGeom>
          <a:noFill/>
          <a:ln/>
        </p:spPr>
        <p:txBody>
          <a:bodyPr wrap="square" lIns="0" tIns="0" rIns="0" bIns="0" rtlCol="0" anchor="ctr"/>
          <a:lstStyle/>
          <a:p>
            <a:pPr indent="0" marL="0">
              <a:buNone/>
            </a:pPr>
            <a:r>
              <a:rPr lang="en-US" sz="8000" dirty="0">
                <a:solidFill>
                  <a:srgbClr val="134E4A"/>
                </a:solidFill>
                <a:latin typeface="Georgia" pitchFamily="34" charset="0"/>
                <a:ea typeface="Georgia" pitchFamily="34" charset="-122"/>
                <a:cs typeface="Georgia" pitchFamily="34" charset="-120"/>
              </a:rPr>
              <a:t>“</a:t>
            </a:r>
            <a:endParaRPr lang="en-US" sz="8000" dirty="0"/>
          </a:p>
        </p:txBody>
      </p:sp>
      <p:sp>
        <p:nvSpPr>
          <p:cNvPr id="13" name="Text 10"/>
          <p:cNvSpPr/>
          <p:nvPr/>
        </p:nvSpPr>
        <p:spPr>
          <a:xfrm>
            <a:off x="777240" y="1371600"/>
            <a:ext cx="7589520" cy="2011680"/>
          </a:xfrm>
          <a:prstGeom prst="rect">
            <a:avLst/>
          </a:prstGeom>
          <a:noFill/>
          <a:ln/>
        </p:spPr>
        <p:txBody>
          <a:bodyPr wrap="square" lIns="0" tIns="0" rIns="0" bIns="0" rtlCol="0" anchor="ctr"/>
          <a:lstStyle/>
          <a:p>
            <a:pPr indent="0" marL="0">
              <a:buNone/>
            </a:pPr>
            <a:r>
              <a:rPr lang="en-US" sz="1800" i="1" dirty="0">
                <a:solidFill>
                  <a:srgbClr val="E2E8F0"/>
                </a:solidFill>
                <a:latin typeface="Georgia" pitchFamily="34" charset="0"/>
                <a:ea typeface="Georgia" pitchFamily="34" charset="-122"/>
                <a:cs typeface="Georgia" pitchFamily="34" charset="-120"/>
              </a:rPr>
              <a:t>When a team member says 'the tool shows us at risk' without questioning whether the model's assessment matches what the team actually knows — that's the moment governance failed.</a:t>
            </a:r>
            <a:endParaRPr lang="en-US" sz="1800" dirty="0"/>
          </a:p>
        </p:txBody>
      </p:sp>
      <p:sp>
        <p:nvSpPr>
          <p:cNvPr id="14" name="Text 11"/>
          <p:cNvSpPr/>
          <p:nvPr/>
        </p:nvSpPr>
        <p:spPr>
          <a:xfrm>
            <a:off x="777240" y="4114800"/>
            <a:ext cx="7589520" cy="45720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 Practical AI Governance for Scrum Masters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623"/>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0F1A"/>
          </a:solidFill>
          <a:ln/>
        </p:spPr>
      </p:sp>
      <p:sp>
        <p:nvSpPr>
          <p:cNvPr id="3" name="Shape 1"/>
          <p:cNvSpPr/>
          <p:nvPr/>
        </p:nvSpPr>
        <p:spPr>
          <a:xfrm>
            <a:off x="0" y="0"/>
            <a:ext cx="109728" cy="658368"/>
          </a:xfrm>
          <a:prstGeom prst="rect">
            <a:avLst/>
          </a:prstGeom>
          <a:solidFill>
            <a:srgbClr val="0D9488"/>
          </a:solidFill>
          <a:ln/>
        </p:spPr>
      </p:sp>
      <p:sp>
        <p:nvSpPr>
          <p:cNvPr id="4" name="Text 2"/>
          <p:cNvSpPr/>
          <p:nvPr/>
        </p:nvSpPr>
        <p:spPr>
          <a:xfrm>
            <a:off x="256032" y="0"/>
            <a:ext cx="7498080" cy="658368"/>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Sprint Review: Name What the AI Didn't See</a:t>
            </a:r>
            <a:endParaRPr lang="en-US" sz="1800" dirty="0"/>
          </a:p>
        </p:txBody>
      </p:sp>
      <p:sp>
        <p:nvSpPr>
          <p:cNvPr id="5" name="Text 3"/>
          <p:cNvSpPr/>
          <p:nvPr/>
        </p:nvSpPr>
        <p:spPr>
          <a:xfrm>
            <a:off x="8321040" y="0"/>
            <a:ext cx="658368" cy="65836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7</a:t>
            </a:r>
            <a:endParaRPr lang="en-US" sz="1100" dirty="0"/>
          </a:p>
        </p:txBody>
      </p:sp>
      <p:sp>
        <p:nvSpPr>
          <p:cNvPr id="6" name="Shape 4"/>
          <p:cNvSpPr/>
          <p:nvPr/>
        </p:nvSpPr>
        <p:spPr>
          <a:xfrm>
            <a:off x="0" y="4956048"/>
            <a:ext cx="9144000" cy="187452"/>
          </a:xfrm>
          <a:prstGeom prst="rect">
            <a:avLst/>
          </a:prstGeom>
          <a:solidFill>
            <a:srgbClr val="0A0F1A"/>
          </a:solidFill>
          <a:ln/>
        </p:spPr>
      </p:sp>
      <p:sp>
        <p:nvSpPr>
          <p:cNvPr id="7" name="Text 5"/>
          <p:cNvSpPr/>
          <p:nvPr/>
        </p:nvSpPr>
        <p:spPr>
          <a:xfrm>
            <a:off x="256032" y="49651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Data Mastery  ·  datamastery.com.au</a:t>
            </a:r>
            <a:endParaRPr lang="en-US" sz="800" dirty="0"/>
          </a:p>
        </p:txBody>
      </p:sp>
      <p:sp>
        <p:nvSpPr>
          <p:cNvPr id="8" name="Text 6"/>
          <p:cNvSpPr/>
          <p:nvPr/>
        </p:nvSpPr>
        <p:spPr>
          <a:xfrm>
            <a:off x="6858000" y="4965192"/>
            <a:ext cx="210312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 2026 Vinnie Kura</a:t>
            </a:r>
            <a:endParaRPr lang="en-US" sz="800" dirty="0"/>
          </a:p>
        </p:txBody>
      </p:sp>
      <p:sp>
        <p:nvSpPr>
          <p:cNvPr id="10" name="Shape 7"/>
          <p:cNvSpPr/>
          <p:nvPr/>
        </p:nvSpPr>
        <p:spPr>
          <a:xfrm>
            <a:off x="6217920" y="777240"/>
            <a:ext cx="2560320" cy="4023360"/>
          </a:xfrm>
          <a:prstGeom prst="rect">
            <a:avLst/>
          </a:prstGeom>
          <a:solidFill>
            <a:srgbClr val="131C2E"/>
          </a:solidFill>
          <a:ln w="12700">
            <a:solidFill>
              <a:srgbClr val="0D9488"/>
            </a:solidFill>
            <a:prstDash val="solid"/>
          </a:ln>
          <a:effectLst>
            <a:outerShdw sx="100000" sy="100000" kx="0" ky="0" algn="bl" rotWithShape="0" blurRad="152400" dist="50800" dir="8100000">
              <a:srgbClr val="000000">
                <a:alpha val="25000"/>
              </a:srgbClr>
            </a:outerShdw>
          </a:effectLst>
        </p:spPr>
      </p:sp>
      <p:sp>
        <p:nvSpPr>
          <p:cNvPr id="11" name="Shape 8"/>
          <p:cNvSpPr/>
          <p:nvPr/>
        </p:nvSpPr>
        <p:spPr>
          <a:xfrm>
            <a:off x="6217920" y="777240"/>
            <a:ext cx="2560320" cy="54864"/>
          </a:xfrm>
          <a:prstGeom prst="rect">
            <a:avLst/>
          </a:prstGeom>
          <a:solidFill>
            <a:srgbClr val="0D9488"/>
          </a:solidFill>
          <a:ln/>
        </p:spPr>
      </p:sp>
      <p:sp>
        <p:nvSpPr>
          <p:cNvPr id="12" name="Text 9"/>
          <p:cNvSpPr/>
          <p:nvPr/>
        </p:nvSpPr>
        <p:spPr>
          <a:xfrm>
            <a:off x="6263640" y="822960"/>
            <a:ext cx="2468880" cy="347472"/>
          </a:xfrm>
          <a:prstGeom prst="rect">
            <a:avLst/>
          </a:prstGeom>
          <a:noFill/>
          <a:ln/>
        </p:spPr>
        <p:txBody>
          <a:bodyPr wrap="square" lIns="0" tIns="0" rIns="0" bIns="0" rtlCol="0" anchor="ctr"/>
          <a:lstStyle/>
          <a:p>
            <a:pPr indent="0" marL="0">
              <a:buNone/>
            </a:pPr>
            <a:r>
              <a:rPr lang="en-US" sz="900" b="1" spc="200" kern="0" dirty="0">
                <a:solidFill>
                  <a:srgbClr val="0D9488"/>
                </a:solidFill>
                <a:latin typeface="Calibri" pitchFamily="34" charset="0"/>
                <a:ea typeface="Calibri" pitchFamily="34" charset="-122"/>
                <a:cs typeface="Calibri" pitchFamily="34" charset="-120"/>
              </a:rPr>
              <a:t>KEY INSIGHT</a:t>
            </a:r>
            <a:endParaRPr lang="en-US" sz="900" dirty="0"/>
          </a:p>
        </p:txBody>
      </p:sp>
      <p:sp>
        <p:nvSpPr>
          <p:cNvPr id="13" name="Text 10"/>
          <p:cNvSpPr/>
          <p:nvPr/>
        </p:nvSpPr>
        <p:spPr>
          <a:xfrm>
            <a:off x="6263640" y="1188720"/>
            <a:ext cx="2468880" cy="3383280"/>
          </a:xfrm>
          <a:prstGeom prst="rect">
            <a:avLst/>
          </a:prstGeom>
          <a:noFill/>
          <a:ln/>
        </p:spPr>
        <p:txBody>
          <a:bodyPr wrap="square" lIns="0" tIns="0" rIns="0" bIns="0" rtlCol="0" anchor="t"/>
          <a:lstStyle/>
          <a:p>
            <a:pPr indent="0" marL="0">
              <a:buNone/>
            </a:pPr>
            <a:r>
              <a:rPr lang="en-US" sz="1200" i="1" dirty="0">
                <a:solidFill>
                  <a:srgbClr val="E2E8F0"/>
                </a:solidFill>
                <a:latin typeface="Georgia" pitchFamily="34" charset="0"/>
                <a:ea typeface="Georgia" pitchFamily="34" charset="-122"/>
                <a:cs typeface="Georgia" pitchFamily="34" charset="-120"/>
              </a:rPr>
              <a:t>The Review isn't a readout of what the AI observed. It's a human accountability moment.</a:t>
            </a:r>
            <a:endParaRPr lang="en-US" sz="1200" dirty="0"/>
          </a:p>
        </p:txBody>
      </p:sp>
      <p:sp>
        <p:nvSpPr>
          <p:cNvPr id="14" name="Text 11"/>
          <p:cNvSpPr/>
          <p:nvPr/>
        </p:nvSpPr>
        <p:spPr>
          <a:xfrm>
            <a:off x="411480" y="777240"/>
            <a:ext cx="5486400" cy="54864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Review is where AI-synthesised summaries are most likely to shape stakeholder perception — and most likely to go unchallenged.</a:t>
            </a:r>
            <a:endParaRPr lang="en-US" sz="1300" dirty="0"/>
          </a:p>
        </p:txBody>
      </p:sp>
      <p:sp>
        <p:nvSpPr>
          <p:cNvPr id="15" name="Text 12"/>
          <p:cNvSpPr/>
          <p:nvPr/>
        </p:nvSpPr>
        <p:spPr>
          <a:xfrm>
            <a:off x="411480" y="1371600"/>
            <a:ext cx="5486400" cy="34518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Auto-generated summaries flatten nuance and disagreement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Stakeholders may accept AI narrative over team's lived experience</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Model-ranked priorities embed historical bias into roadmap conversation</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Scrum Master's role: surface what the summary omitted</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Ask: 'What did this sprint teach us that isn't in the report?'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Document human overrides of AI recommendations explicitly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623"/>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0F1A"/>
          </a:solidFill>
          <a:ln/>
        </p:spPr>
      </p:sp>
      <p:sp>
        <p:nvSpPr>
          <p:cNvPr id="3" name="Shape 1"/>
          <p:cNvSpPr/>
          <p:nvPr/>
        </p:nvSpPr>
        <p:spPr>
          <a:xfrm>
            <a:off x="0" y="0"/>
            <a:ext cx="109728" cy="658368"/>
          </a:xfrm>
          <a:prstGeom prst="rect">
            <a:avLst/>
          </a:prstGeom>
          <a:solidFill>
            <a:srgbClr val="0D9488"/>
          </a:solidFill>
          <a:ln/>
        </p:spPr>
      </p:sp>
      <p:sp>
        <p:nvSpPr>
          <p:cNvPr id="4" name="Text 2"/>
          <p:cNvSpPr/>
          <p:nvPr/>
        </p:nvSpPr>
        <p:spPr>
          <a:xfrm>
            <a:off x="256032" y="0"/>
            <a:ext cx="7498080" cy="658368"/>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Retrospective: Govern the Insight Engine</a:t>
            </a:r>
            <a:endParaRPr lang="en-US" sz="1800" dirty="0"/>
          </a:p>
        </p:txBody>
      </p:sp>
      <p:sp>
        <p:nvSpPr>
          <p:cNvPr id="5" name="Text 3"/>
          <p:cNvSpPr/>
          <p:nvPr/>
        </p:nvSpPr>
        <p:spPr>
          <a:xfrm>
            <a:off x="8321040" y="0"/>
            <a:ext cx="658368" cy="65836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8</a:t>
            </a:r>
            <a:endParaRPr lang="en-US" sz="1100" dirty="0"/>
          </a:p>
        </p:txBody>
      </p:sp>
      <p:sp>
        <p:nvSpPr>
          <p:cNvPr id="6" name="Shape 4"/>
          <p:cNvSpPr/>
          <p:nvPr/>
        </p:nvSpPr>
        <p:spPr>
          <a:xfrm>
            <a:off x="0" y="4956048"/>
            <a:ext cx="9144000" cy="187452"/>
          </a:xfrm>
          <a:prstGeom prst="rect">
            <a:avLst/>
          </a:prstGeom>
          <a:solidFill>
            <a:srgbClr val="0A0F1A"/>
          </a:solidFill>
          <a:ln/>
        </p:spPr>
      </p:sp>
      <p:sp>
        <p:nvSpPr>
          <p:cNvPr id="7" name="Text 5"/>
          <p:cNvSpPr/>
          <p:nvPr/>
        </p:nvSpPr>
        <p:spPr>
          <a:xfrm>
            <a:off x="256032" y="49651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Data Mastery  ·  datamastery.com.au</a:t>
            </a:r>
            <a:endParaRPr lang="en-US" sz="800" dirty="0"/>
          </a:p>
        </p:txBody>
      </p:sp>
      <p:sp>
        <p:nvSpPr>
          <p:cNvPr id="8" name="Text 6"/>
          <p:cNvSpPr/>
          <p:nvPr/>
        </p:nvSpPr>
        <p:spPr>
          <a:xfrm>
            <a:off x="6858000" y="4965192"/>
            <a:ext cx="210312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 2026 Vinnie Kura</a:t>
            </a:r>
            <a:endParaRPr lang="en-US" sz="800" dirty="0"/>
          </a:p>
        </p:txBody>
      </p:sp>
      <p:sp>
        <p:nvSpPr>
          <p:cNvPr id="10" name="Shape 7"/>
          <p:cNvSpPr/>
          <p:nvPr/>
        </p:nvSpPr>
        <p:spPr>
          <a:xfrm>
            <a:off x="365760" y="777240"/>
            <a:ext cx="3840480" cy="36576"/>
          </a:xfrm>
          <a:prstGeom prst="rect">
            <a:avLst/>
          </a:prstGeom>
          <a:solidFill>
            <a:srgbClr val="0D9488"/>
          </a:solidFill>
          <a:ln/>
        </p:spPr>
      </p:sp>
      <p:sp>
        <p:nvSpPr>
          <p:cNvPr id="11" name="Text 8"/>
          <p:cNvSpPr/>
          <p:nvPr/>
        </p:nvSpPr>
        <p:spPr>
          <a:xfrm>
            <a:off x="365760" y="822960"/>
            <a:ext cx="3840480" cy="41148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Risks of Unreviewed AI Synthesis</a:t>
            </a:r>
            <a:endParaRPr lang="en-US" sz="1300" dirty="0"/>
          </a:p>
        </p:txBody>
      </p:sp>
      <p:sp>
        <p:nvSpPr>
          <p:cNvPr id="12" name="Shape 9"/>
          <p:cNvSpPr/>
          <p:nvPr/>
        </p:nvSpPr>
        <p:spPr>
          <a:xfrm>
            <a:off x="4937760" y="777240"/>
            <a:ext cx="3840480" cy="36576"/>
          </a:xfrm>
          <a:prstGeom prst="rect">
            <a:avLst/>
          </a:prstGeom>
          <a:solidFill>
            <a:srgbClr val="F59E0B"/>
          </a:solidFill>
          <a:ln/>
        </p:spPr>
      </p:sp>
      <p:sp>
        <p:nvSpPr>
          <p:cNvPr id="13" name="Text 10"/>
          <p:cNvSpPr/>
          <p:nvPr/>
        </p:nvSpPr>
        <p:spPr>
          <a:xfrm>
            <a:off x="4937760" y="822960"/>
            <a:ext cx="3840480" cy="41148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Governance Additions That Help</a:t>
            </a:r>
            <a:endParaRPr lang="en-US" sz="1300" dirty="0"/>
          </a:p>
        </p:txBody>
      </p:sp>
      <p:sp>
        <p:nvSpPr>
          <p:cNvPr id="14" name="Shape 11"/>
          <p:cNvSpPr/>
          <p:nvPr/>
        </p:nvSpPr>
        <p:spPr>
          <a:xfrm>
            <a:off x="4572000" y="777240"/>
            <a:ext cx="0" cy="4023360"/>
          </a:xfrm>
          <a:prstGeom prst="line">
            <a:avLst/>
          </a:prstGeom>
          <a:noFill/>
          <a:ln w="12700">
            <a:solidFill>
              <a:srgbClr val="134E4A"/>
            </a:solidFill>
            <a:prstDash val="dash"/>
          </a:ln>
        </p:spPr>
      </p:sp>
      <p:sp>
        <p:nvSpPr>
          <p:cNvPr id="15" name="Text 12"/>
          <p:cNvSpPr/>
          <p:nvPr/>
        </p:nvSpPr>
        <p:spPr>
          <a:xfrm>
            <a:off x="365760" y="1325880"/>
            <a:ext cx="3931920" cy="33832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Minority perspectives get statistically averaged out</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Recurring themes amplified over emerging signals</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Team loses ownership of its own improvement narrative</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Psychological safety undermined if comments feel monitored</a:t>
            </a:r>
            <a:endParaRPr lang="en-US" sz="1300" dirty="0"/>
          </a:p>
        </p:txBody>
      </p:sp>
      <p:sp>
        <p:nvSpPr>
          <p:cNvPr id="16" name="Text 13"/>
          <p:cNvSpPr/>
          <p:nvPr/>
        </p:nvSpPr>
        <p:spPr>
          <a:xfrm>
            <a:off x="4937760" y="1325880"/>
            <a:ext cx="3840480" cy="33832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Review AI themes before presenting to team</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Ask: 'What's missing from this synthesis?'</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Preserve verbatim team language alongside AI summary</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Rotate facilitation away from AI tools periodically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623"/>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0F1A"/>
          </a:solidFill>
          <a:ln/>
        </p:spPr>
      </p:sp>
      <p:sp>
        <p:nvSpPr>
          <p:cNvPr id="3" name="Shape 1"/>
          <p:cNvSpPr/>
          <p:nvPr/>
        </p:nvSpPr>
        <p:spPr>
          <a:xfrm>
            <a:off x="0" y="0"/>
            <a:ext cx="109728" cy="658368"/>
          </a:xfrm>
          <a:prstGeom prst="rect">
            <a:avLst/>
          </a:prstGeom>
          <a:solidFill>
            <a:srgbClr val="0D9488"/>
          </a:solidFill>
          <a:ln/>
        </p:spPr>
      </p:sp>
      <p:sp>
        <p:nvSpPr>
          <p:cNvPr id="4" name="Text 2"/>
          <p:cNvSpPr/>
          <p:nvPr/>
        </p:nvSpPr>
        <p:spPr>
          <a:xfrm>
            <a:off x="256032" y="0"/>
            <a:ext cx="7498080" cy="658368"/>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Rewriting the Definition of Done for AI Outputs</a:t>
            </a:r>
            <a:endParaRPr lang="en-US" sz="1800" dirty="0"/>
          </a:p>
        </p:txBody>
      </p:sp>
      <p:sp>
        <p:nvSpPr>
          <p:cNvPr id="5" name="Text 3"/>
          <p:cNvSpPr/>
          <p:nvPr/>
        </p:nvSpPr>
        <p:spPr>
          <a:xfrm>
            <a:off x="8321040" y="0"/>
            <a:ext cx="658368" cy="65836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9</a:t>
            </a:r>
            <a:endParaRPr lang="en-US" sz="1100" dirty="0"/>
          </a:p>
        </p:txBody>
      </p:sp>
      <p:sp>
        <p:nvSpPr>
          <p:cNvPr id="6" name="Shape 4"/>
          <p:cNvSpPr/>
          <p:nvPr/>
        </p:nvSpPr>
        <p:spPr>
          <a:xfrm>
            <a:off x="0" y="4956048"/>
            <a:ext cx="9144000" cy="187452"/>
          </a:xfrm>
          <a:prstGeom prst="rect">
            <a:avLst/>
          </a:prstGeom>
          <a:solidFill>
            <a:srgbClr val="0A0F1A"/>
          </a:solidFill>
          <a:ln/>
        </p:spPr>
      </p:sp>
      <p:sp>
        <p:nvSpPr>
          <p:cNvPr id="7" name="Text 5"/>
          <p:cNvSpPr/>
          <p:nvPr/>
        </p:nvSpPr>
        <p:spPr>
          <a:xfrm>
            <a:off x="256032" y="49651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Data Mastery  ·  datamastery.com.au</a:t>
            </a:r>
            <a:endParaRPr lang="en-US" sz="800" dirty="0"/>
          </a:p>
        </p:txBody>
      </p:sp>
      <p:sp>
        <p:nvSpPr>
          <p:cNvPr id="8" name="Text 6"/>
          <p:cNvSpPr/>
          <p:nvPr/>
        </p:nvSpPr>
        <p:spPr>
          <a:xfrm>
            <a:off x="6858000" y="4965192"/>
            <a:ext cx="210312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 2026 Vinnie Kura</a:t>
            </a:r>
            <a:endParaRPr lang="en-US" sz="800" dirty="0"/>
          </a:p>
        </p:txBody>
      </p:sp>
      <p:sp>
        <p:nvSpPr>
          <p:cNvPr id="10" name="Shape 7"/>
          <p:cNvSpPr/>
          <p:nvPr/>
        </p:nvSpPr>
        <p:spPr>
          <a:xfrm>
            <a:off x="365760" y="868680"/>
            <a:ext cx="502920" cy="502920"/>
          </a:xfrm>
          <a:prstGeom prst="ellipse">
            <a:avLst/>
          </a:prstGeom>
          <a:solidFill>
            <a:srgbClr val="0D9488"/>
          </a:solidFill>
          <a:ln/>
        </p:spPr>
      </p:sp>
      <p:sp>
        <p:nvSpPr>
          <p:cNvPr id="11" name="Text 8"/>
          <p:cNvSpPr/>
          <p:nvPr/>
        </p:nvSpPr>
        <p:spPr>
          <a:xfrm>
            <a:off x="365760" y="8686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2" name="Shape 9"/>
          <p:cNvSpPr/>
          <p:nvPr/>
        </p:nvSpPr>
        <p:spPr>
          <a:xfrm>
            <a:off x="612648" y="1371600"/>
            <a:ext cx="0" cy="429768"/>
          </a:xfrm>
          <a:prstGeom prst="line">
            <a:avLst/>
          </a:prstGeom>
          <a:noFill/>
          <a:ln w="12700">
            <a:solidFill>
              <a:srgbClr val="134E4A"/>
            </a:solidFill>
            <a:prstDash val="dash"/>
          </a:ln>
        </p:spPr>
      </p:sp>
      <p:sp>
        <p:nvSpPr>
          <p:cNvPr id="13" name="Shape 10"/>
          <p:cNvSpPr/>
          <p:nvPr/>
        </p:nvSpPr>
        <p:spPr>
          <a:xfrm>
            <a:off x="1051560" y="822960"/>
            <a:ext cx="7635240" cy="868680"/>
          </a:xfrm>
          <a:prstGeom prst="rect">
            <a:avLst/>
          </a:prstGeom>
          <a:solidFill>
            <a:srgbClr val="131C2E"/>
          </a:solidFill>
          <a:ln w="12700">
            <a:solidFill>
              <a:srgbClr val="134E4A"/>
            </a:solidFill>
            <a:prstDash val="solid"/>
          </a:ln>
        </p:spPr>
      </p:sp>
      <p:sp>
        <p:nvSpPr>
          <p:cNvPr id="14" name="Text 11"/>
          <p:cNvSpPr/>
          <p:nvPr/>
        </p:nvSpPr>
        <p:spPr>
          <a:xfrm>
            <a:off x="1188720" y="859536"/>
            <a:ext cx="45720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Provenance Recorded</a:t>
            </a:r>
            <a:endParaRPr lang="en-US" sz="1300" dirty="0"/>
          </a:p>
        </p:txBody>
      </p:sp>
      <p:sp>
        <p:nvSpPr>
          <p:cNvPr id="15" name="Text 12"/>
          <p:cNvSpPr/>
          <p:nvPr/>
        </p:nvSpPr>
        <p:spPr>
          <a:xfrm>
            <a:off x="1188720" y="1207008"/>
            <a:ext cx="7315200" cy="4114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Tool name, model version, and data source logged for every AI-generated story or decision input</a:t>
            </a:r>
            <a:endParaRPr lang="en-US" sz="1100" dirty="0"/>
          </a:p>
        </p:txBody>
      </p:sp>
      <p:sp>
        <p:nvSpPr>
          <p:cNvPr id="16" name="Shape 13"/>
          <p:cNvSpPr/>
          <p:nvPr/>
        </p:nvSpPr>
        <p:spPr>
          <a:xfrm>
            <a:off x="365760" y="1847088"/>
            <a:ext cx="502920" cy="502920"/>
          </a:xfrm>
          <a:prstGeom prst="ellipse">
            <a:avLst/>
          </a:prstGeom>
          <a:solidFill>
            <a:srgbClr val="0D9488"/>
          </a:solidFill>
          <a:ln/>
        </p:spPr>
      </p:sp>
      <p:sp>
        <p:nvSpPr>
          <p:cNvPr id="17" name="Text 14"/>
          <p:cNvSpPr/>
          <p:nvPr/>
        </p:nvSpPr>
        <p:spPr>
          <a:xfrm>
            <a:off x="365760" y="184708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8" name="Shape 15"/>
          <p:cNvSpPr/>
          <p:nvPr/>
        </p:nvSpPr>
        <p:spPr>
          <a:xfrm>
            <a:off x="612648" y="2350008"/>
            <a:ext cx="0" cy="429768"/>
          </a:xfrm>
          <a:prstGeom prst="line">
            <a:avLst/>
          </a:prstGeom>
          <a:noFill/>
          <a:ln w="12700">
            <a:solidFill>
              <a:srgbClr val="134E4A"/>
            </a:solidFill>
            <a:prstDash val="dash"/>
          </a:ln>
        </p:spPr>
      </p:sp>
      <p:sp>
        <p:nvSpPr>
          <p:cNvPr id="19" name="Shape 16"/>
          <p:cNvSpPr/>
          <p:nvPr/>
        </p:nvSpPr>
        <p:spPr>
          <a:xfrm>
            <a:off x="1051560" y="1801368"/>
            <a:ext cx="7635240" cy="868680"/>
          </a:xfrm>
          <a:prstGeom prst="rect">
            <a:avLst/>
          </a:prstGeom>
          <a:solidFill>
            <a:srgbClr val="131C2E"/>
          </a:solidFill>
          <a:ln w="12700">
            <a:solidFill>
              <a:srgbClr val="134E4A"/>
            </a:solidFill>
            <a:prstDash val="solid"/>
          </a:ln>
        </p:spPr>
      </p:sp>
      <p:sp>
        <p:nvSpPr>
          <p:cNvPr id="20" name="Text 17"/>
          <p:cNvSpPr/>
          <p:nvPr/>
        </p:nvSpPr>
        <p:spPr>
          <a:xfrm>
            <a:off x="1188720" y="1837944"/>
            <a:ext cx="45720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Human Review Confirmed</a:t>
            </a:r>
            <a:endParaRPr lang="en-US" sz="1300" dirty="0"/>
          </a:p>
        </p:txBody>
      </p:sp>
      <p:sp>
        <p:nvSpPr>
          <p:cNvPr id="21" name="Text 18"/>
          <p:cNvSpPr/>
          <p:nvPr/>
        </p:nvSpPr>
        <p:spPr>
          <a:xfrm>
            <a:off x="1188720" y="2185416"/>
            <a:ext cx="7315200" cy="4114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A named team member has evaluated the artefact against actual user context, not just formatting</a:t>
            </a:r>
            <a:endParaRPr lang="en-US" sz="1100" dirty="0"/>
          </a:p>
        </p:txBody>
      </p:sp>
      <p:sp>
        <p:nvSpPr>
          <p:cNvPr id="22" name="Shape 19"/>
          <p:cNvSpPr/>
          <p:nvPr/>
        </p:nvSpPr>
        <p:spPr>
          <a:xfrm>
            <a:off x="365760" y="2825496"/>
            <a:ext cx="502920" cy="502920"/>
          </a:xfrm>
          <a:prstGeom prst="ellipse">
            <a:avLst/>
          </a:prstGeom>
          <a:solidFill>
            <a:srgbClr val="0D9488"/>
          </a:solidFill>
          <a:ln/>
        </p:spPr>
      </p:sp>
      <p:sp>
        <p:nvSpPr>
          <p:cNvPr id="23" name="Text 20"/>
          <p:cNvSpPr/>
          <p:nvPr/>
        </p:nvSpPr>
        <p:spPr>
          <a:xfrm>
            <a:off x="365760" y="2825496"/>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4" name="Shape 21"/>
          <p:cNvSpPr/>
          <p:nvPr/>
        </p:nvSpPr>
        <p:spPr>
          <a:xfrm>
            <a:off x="612648" y="3328416"/>
            <a:ext cx="0" cy="429768"/>
          </a:xfrm>
          <a:prstGeom prst="line">
            <a:avLst/>
          </a:prstGeom>
          <a:noFill/>
          <a:ln w="12700">
            <a:solidFill>
              <a:srgbClr val="134E4A"/>
            </a:solidFill>
            <a:prstDash val="dash"/>
          </a:ln>
        </p:spPr>
      </p:sp>
      <p:sp>
        <p:nvSpPr>
          <p:cNvPr id="25" name="Shape 22"/>
          <p:cNvSpPr/>
          <p:nvPr/>
        </p:nvSpPr>
        <p:spPr>
          <a:xfrm>
            <a:off x="1051560" y="2779776"/>
            <a:ext cx="7635240" cy="868680"/>
          </a:xfrm>
          <a:prstGeom prst="rect">
            <a:avLst/>
          </a:prstGeom>
          <a:solidFill>
            <a:srgbClr val="131C2E"/>
          </a:solidFill>
          <a:ln w="12700">
            <a:solidFill>
              <a:srgbClr val="134E4A"/>
            </a:solidFill>
            <a:prstDash val="solid"/>
          </a:ln>
        </p:spPr>
      </p:sp>
      <p:sp>
        <p:nvSpPr>
          <p:cNvPr id="26" name="Text 23"/>
          <p:cNvSpPr/>
          <p:nvPr/>
        </p:nvSpPr>
        <p:spPr>
          <a:xfrm>
            <a:off x="1188720" y="2816352"/>
            <a:ext cx="45720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Bias Check Attempted</a:t>
            </a:r>
            <a:endParaRPr lang="en-US" sz="1300" dirty="0"/>
          </a:p>
        </p:txBody>
      </p:sp>
      <p:sp>
        <p:nvSpPr>
          <p:cNvPr id="27" name="Text 24"/>
          <p:cNvSpPr/>
          <p:nvPr/>
        </p:nvSpPr>
        <p:spPr>
          <a:xfrm>
            <a:off x="1188720" y="3163824"/>
            <a:ext cx="7315200" cy="4114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Team has asked what user segments, scenarios, or edge cases the AI output may have missed</a:t>
            </a:r>
            <a:endParaRPr lang="en-US" sz="1100" dirty="0"/>
          </a:p>
        </p:txBody>
      </p:sp>
      <p:sp>
        <p:nvSpPr>
          <p:cNvPr id="28" name="Shape 25"/>
          <p:cNvSpPr/>
          <p:nvPr/>
        </p:nvSpPr>
        <p:spPr>
          <a:xfrm>
            <a:off x="365760" y="3803904"/>
            <a:ext cx="502920" cy="502920"/>
          </a:xfrm>
          <a:prstGeom prst="ellipse">
            <a:avLst/>
          </a:prstGeom>
          <a:solidFill>
            <a:srgbClr val="0D9488"/>
          </a:solidFill>
          <a:ln/>
        </p:spPr>
      </p:sp>
      <p:sp>
        <p:nvSpPr>
          <p:cNvPr id="29" name="Text 26"/>
          <p:cNvSpPr/>
          <p:nvPr/>
        </p:nvSpPr>
        <p:spPr>
          <a:xfrm>
            <a:off x="365760" y="3803904"/>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30" name="Shape 27"/>
          <p:cNvSpPr/>
          <p:nvPr/>
        </p:nvSpPr>
        <p:spPr>
          <a:xfrm>
            <a:off x="1051560" y="3758184"/>
            <a:ext cx="7635240" cy="868680"/>
          </a:xfrm>
          <a:prstGeom prst="rect">
            <a:avLst/>
          </a:prstGeom>
          <a:solidFill>
            <a:srgbClr val="131C2E"/>
          </a:solidFill>
          <a:ln w="12700">
            <a:solidFill>
              <a:srgbClr val="134E4A"/>
            </a:solidFill>
            <a:prstDash val="solid"/>
          </a:ln>
        </p:spPr>
      </p:sp>
      <p:sp>
        <p:nvSpPr>
          <p:cNvPr id="31" name="Text 28"/>
          <p:cNvSpPr/>
          <p:nvPr/>
        </p:nvSpPr>
        <p:spPr>
          <a:xfrm>
            <a:off x="1188720" y="3794760"/>
            <a:ext cx="45720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Audit Trail Exists</a:t>
            </a:r>
            <a:endParaRPr lang="en-US" sz="1300" dirty="0"/>
          </a:p>
        </p:txBody>
      </p:sp>
      <p:sp>
        <p:nvSpPr>
          <p:cNvPr id="32" name="Text 29"/>
          <p:cNvSpPr/>
          <p:nvPr/>
        </p:nvSpPr>
        <p:spPr>
          <a:xfrm>
            <a:off x="1188720" y="4142232"/>
            <a:ext cx="7315200" cy="4114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If challenged in six months, the team can explain why this output was trusted and acted upon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623"/>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0F1A"/>
          </a:solidFill>
          <a:ln/>
        </p:spPr>
      </p:sp>
      <p:sp>
        <p:nvSpPr>
          <p:cNvPr id="3" name="Shape 1"/>
          <p:cNvSpPr/>
          <p:nvPr/>
        </p:nvSpPr>
        <p:spPr>
          <a:xfrm>
            <a:off x="0" y="0"/>
            <a:ext cx="109728" cy="658368"/>
          </a:xfrm>
          <a:prstGeom prst="rect">
            <a:avLst/>
          </a:prstGeom>
          <a:solidFill>
            <a:srgbClr val="0D9488"/>
          </a:solidFill>
          <a:ln/>
        </p:spPr>
      </p:sp>
      <p:sp>
        <p:nvSpPr>
          <p:cNvPr id="4" name="Text 2"/>
          <p:cNvSpPr/>
          <p:nvPr/>
        </p:nvSpPr>
        <p:spPr>
          <a:xfrm>
            <a:off x="256032" y="0"/>
            <a:ext cx="7498080" cy="658368"/>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The Three Failure Modes to Watch For</a:t>
            </a:r>
            <a:endParaRPr lang="en-US" sz="1800" dirty="0"/>
          </a:p>
        </p:txBody>
      </p:sp>
      <p:sp>
        <p:nvSpPr>
          <p:cNvPr id="5" name="Text 3"/>
          <p:cNvSpPr/>
          <p:nvPr/>
        </p:nvSpPr>
        <p:spPr>
          <a:xfrm>
            <a:off x="8321040" y="0"/>
            <a:ext cx="658368" cy="65836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10</a:t>
            </a:r>
            <a:endParaRPr lang="en-US" sz="1100" dirty="0"/>
          </a:p>
        </p:txBody>
      </p:sp>
      <p:sp>
        <p:nvSpPr>
          <p:cNvPr id="6" name="Shape 4"/>
          <p:cNvSpPr/>
          <p:nvPr/>
        </p:nvSpPr>
        <p:spPr>
          <a:xfrm>
            <a:off x="0" y="4956048"/>
            <a:ext cx="9144000" cy="187452"/>
          </a:xfrm>
          <a:prstGeom prst="rect">
            <a:avLst/>
          </a:prstGeom>
          <a:solidFill>
            <a:srgbClr val="0A0F1A"/>
          </a:solidFill>
          <a:ln/>
        </p:spPr>
      </p:sp>
      <p:sp>
        <p:nvSpPr>
          <p:cNvPr id="7" name="Text 5"/>
          <p:cNvSpPr/>
          <p:nvPr/>
        </p:nvSpPr>
        <p:spPr>
          <a:xfrm>
            <a:off x="256032" y="49651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Data Mastery  ·  datamastery.com.au</a:t>
            </a:r>
            <a:endParaRPr lang="en-US" sz="800" dirty="0"/>
          </a:p>
        </p:txBody>
      </p:sp>
      <p:sp>
        <p:nvSpPr>
          <p:cNvPr id="8" name="Text 6"/>
          <p:cNvSpPr/>
          <p:nvPr/>
        </p:nvSpPr>
        <p:spPr>
          <a:xfrm>
            <a:off x="6858000" y="4965192"/>
            <a:ext cx="210312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 2026 Vinnie Kura</a:t>
            </a:r>
            <a:endParaRPr lang="en-US" sz="800" dirty="0"/>
          </a:p>
        </p:txBody>
      </p:sp>
      <p:sp>
        <p:nvSpPr>
          <p:cNvPr id="10" name="Shape 7"/>
          <p:cNvSpPr/>
          <p:nvPr/>
        </p:nvSpPr>
        <p:spPr>
          <a:xfrm>
            <a:off x="457200" y="822960"/>
            <a:ext cx="2560320" cy="2560320"/>
          </a:xfrm>
          <a:prstGeom prst="rect">
            <a:avLst/>
          </a:prstGeom>
          <a:solidFill>
            <a:srgbClr val="131C2E"/>
          </a:solidFill>
          <a:ln w="12700">
            <a:solidFill>
              <a:srgbClr val="134E4A"/>
            </a:solidFill>
            <a:prstDash val="solid"/>
          </a:ln>
          <a:effectLst>
            <a:outerShdw sx="100000" sy="100000" kx="0" ky="0" algn="bl" rotWithShape="0" blurRad="152400" dist="50800" dir="8100000">
              <a:srgbClr val="000000">
                <a:alpha val="25000"/>
              </a:srgbClr>
            </a:outerShdw>
          </a:effectLst>
        </p:spPr>
      </p:sp>
      <p:sp>
        <p:nvSpPr>
          <p:cNvPr id="11" name="Shape 8"/>
          <p:cNvSpPr/>
          <p:nvPr/>
        </p:nvSpPr>
        <p:spPr>
          <a:xfrm>
            <a:off x="457200" y="822960"/>
            <a:ext cx="2560320" cy="64008"/>
          </a:xfrm>
          <a:prstGeom prst="rect">
            <a:avLst/>
          </a:prstGeom>
          <a:solidFill>
            <a:srgbClr val="0D9488"/>
          </a:solidFill>
          <a:ln/>
        </p:spPr>
      </p:sp>
      <p:sp>
        <p:nvSpPr>
          <p:cNvPr id="12" name="Text 9"/>
          <p:cNvSpPr/>
          <p:nvPr/>
        </p:nvSpPr>
        <p:spPr>
          <a:xfrm>
            <a:off x="594360" y="1005840"/>
            <a:ext cx="2286000" cy="1097280"/>
          </a:xfrm>
          <a:prstGeom prst="rect">
            <a:avLst/>
          </a:prstGeom>
          <a:noFill/>
          <a:ln/>
        </p:spPr>
        <p:txBody>
          <a:bodyPr wrap="square" lIns="0" tIns="0" rIns="0" bIns="0" rtlCol="0" anchor="ctr"/>
          <a:lstStyle/>
          <a:p>
            <a:pPr algn="ctr" indent="0" marL="0">
              <a:buNone/>
            </a:pPr>
            <a:r>
              <a:rPr lang="en-US" sz="4200" dirty="0">
                <a:solidFill>
                  <a:srgbClr val="0D9488"/>
                </a:solidFill>
                <a:latin typeface="Georgia" pitchFamily="34" charset="0"/>
                <a:ea typeface="Georgia" pitchFamily="34" charset="-122"/>
                <a:cs typeface="Georgia" pitchFamily="34" charset="-120"/>
              </a:rPr>
              <a:t>Automation Bias</a:t>
            </a:r>
            <a:endParaRPr lang="en-US" sz="4200" dirty="0"/>
          </a:p>
        </p:txBody>
      </p:sp>
      <p:sp>
        <p:nvSpPr>
          <p:cNvPr id="13" name="Text 10"/>
          <p:cNvSpPr/>
          <p:nvPr/>
        </p:nvSpPr>
        <p:spPr>
          <a:xfrm>
            <a:off x="548640" y="2103120"/>
            <a:ext cx="2377440" cy="548640"/>
          </a:xfrm>
          <a:prstGeom prst="rect">
            <a:avLst/>
          </a:prstGeom>
          <a:noFill/>
          <a:ln/>
        </p:spPr>
        <p:txBody>
          <a:bodyPr wrap="square" lIns="0" tIns="0" rIns="0" bIns="0" rtlCol="0" anchor="ctr"/>
          <a:lstStyle/>
          <a:p>
            <a:pPr algn="ctr" indent="0" marL="0">
              <a:buNone/>
            </a:pPr>
            <a:r>
              <a:rPr lang="en-US" sz="1100" b="1" dirty="0">
                <a:solidFill>
                  <a:srgbClr val="E2E8F0"/>
                </a:solidFill>
                <a:latin typeface="Calibri" pitchFamily="34" charset="0"/>
                <a:ea typeface="Calibri" pitchFamily="34" charset="-122"/>
                <a:cs typeface="Calibri" pitchFamily="34" charset="-120"/>
              </a:rPr>
              <a:t>Over-trusting AI outputs</a:t>
            </a:r>
            <a:endParaRPr lang="en-US" sz="1100" dirty="0"/>
          </a:p>
        </p:txBody>
      </p:sp>
      <p:sp>
        <p:nvSpPr>
          <p:cNvPr id="14" name="Text 11"/>
          <p:cNvSpPr/>
          <p:nvPr/>
        </p:nvSpPr>
        <p:spPr>
          <a:xfrm>
            <a:off x="548640" y="2697480"/>
            <a:ext cx="2377440" cy="4572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Team stops questioning because the tool 'seems to know what it's doing'</a:t>
            </a:r>
            <a:endParaRPr lang="en-US" sz="900" dirty="0"/>
          </a:p>
        </p:txBody>
      </p:sp>
      <p:sp>
        <p:nvSpPr>
          <p:cNvPr id="15" name="Shape 12"/>
          <p:cNvSpPr/>
          <p:nvPr/>
        </p:nvSpPr>
        <p:spPr>
          <a:xfrm>
            <a:off x="3291840" y="822960"/>
            <a:ext cx="2560320" cy="2560320"/>
          </a:xfrm>
          <a:prstGeom prst="rect">
            <a:avLst/>
          </a:prstGeom>
          <a:solidFill>
            <a:srgbClr val="131C2E"/>
          </a:solidFill>
          <a:ln w="12700">
            <a:solidFill>
              <a:srgbClr val="134E4A"/>
            </a:solidFill>
            <a:prstDash val="solid"/>
          </a:ln>
          <a:effectLst>
            <a:outerShdw sx="100000" sy="100000" kx="0" ky="0" algn="bl" rotWithShape="0" blurRad="152400" dist="50800" dir="8100000">
              <a:srgbClr val="000000">
                <a:alpha val="25000"/>
              </a:srgbClr>
            </a:outerShdw>
          </a:effectLst>
        </p:spPr>
      </p:sp>
      <p:sp>
        <p:nvSpPr>
          <p:cNvPr id="16" name="Shape 13"/>
          <p:cNvSpPr/>
          <p:nvPr/>
        </p:nvSpPr>
        <p:spPr>
          <a:xfrm>
            <a:off x="3291840" y="822960"/>
            <a:ext cx="2560320" cy="64008"/>
          </a:xfrm>
          <a:prstGeom prst="rect">
            <a:avLst/>
          </a:prstGeom>
          <a:solidFill>
            <a:srgbClr val="0D9488"/>
          </a:solidFill>
          <a:ln/>
        </p:spPr>
      </p:sp>
      <p:sp>
        <p:nvSpPr>
          <p:cNvPr id="17" name="Text 14"/>
          <p:cNvSpPr/>
          <p:nvPr/>
        </p:nvSpPr>
        <p:spPr>
          <a:xfrm>
            <a:off x="3429000" y="1005840"/>
            <a:ext cx="2286000" cy="1097280"/>
          </a:xfrm>
          <a:prstGeom prst="rect">
            <a:avLst/>
          </a:prstGeom>
          <a:noFill/>
          <a:ln/>
        </p:spPr>
        <p:txBody>
          <a:bodyPr wrap="square" lIns="0" tIns="0" rIns="0" bIns="0" rtlCol="0" anchor="ctr"/>
          <a:lstStyle/>
          <a:p>
            <a:pPr algn="ctr" indent="0" marL="0">
              <a:buNone/>
            </a:pPr>
            <a:r>
              <a:rPr lang="en-US" sz="4200" dirty="0">
                <a:solidFill>
                  <a:srgbClr val="0D9488"/>
                </a:solidFill>
                <a:latin typeface="Georgia" pitchFamily="34" charset="0"/>
                <a:ea typeface="Georgia" pitchFamily="34" charset="-122"/>
                <a:cs typeface="Georgia" pitchFamily="34" charset="-120"/>
              </a:rPr>
              <a:t>Provenance Drift</a:t>
            </a:r>
            <a:endParaRPr lang="en-US" sz="4200" dirty="0"/>
          </a:p>
        </p:txBody>
      </p:sp>
      <p:sp>
        <p:nvSpPr>
          <p:cNvPr id="18" name="Text 15"/>
          <p:cNvSpPr/>
          <p:nvPr/>
        </p:nvSpPr>
        <p:spPr>
          <a:xfrm>
            <a:off x="3383280" y="2103120"/>
            <a:ext cx="2377440" cy="548640"/>
          </a:xfrm>
          <a:prstGeom prst="rect">
            <a:avLst/>
          </a:prstGeom>
          <a:noFill/>
          <a:ln/>
        </p:spPr>
        <p:txBody>
          <a:bodyPr wrap="square" lIns="0" tIns="0" rIns="0" bIns="0" rtlCol="0" anchor="ctr"/>
          <a:lstStyle/>
          <a:p>
            <a:pPr algn="ctr" indent="0" marL="0">
              <a:buNone/>
            </a:pPr>
            <a:r>
              <a:rPr lang="en-US" sz="1100" b="1" dirty="0">
                <a:solidFill>
                  <a:srgbClr val="E2E8F0"/>
                </a:solidFill>
                <a:latin typeface="Calibri" pitchFamily="34" charset="0"/>
                <a:ea typeface="Calibri" pitchFamily="34" charset="-122"/>
                <a:cs typeface="Calibri" pitchFamily="34" charset="-120"/>
              </a:rPr>
              <a:t>Lost source trail</a:t>
            </a:r>
            <a:endParaRPr lang="en-US" sz="1100" dirty="0"/>
          </a:p>
        </p:txBody>
      </p:sp>
      <p:sp>
        <p:nvSpPr>
          <p:cNvPr id="19" name="Text 16"/>
          <p:cNvSpPr/>
          <p:nvPr/>
        </p:nvSpPr>
        <p:spPr>
          <a:xfrm>
            <a:off x="3383280" y="2697480"/>
            <a:ext cx="2377440" cy="4572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Artefacts copied, reformatted, and separated from their AI origin within days</a:t>
            </a:r>
            <a:endParaRPr lang="en-US" sz="900" dirty="0"/>
          </a:p>
        </p:txBody>
      </p:sp>
      <p:sp>
        <p:nvSpPr>
          <p:cNvPr id="20" name="Shape 17"/>
          <p:cNvSpPr/>
          <p:nvPr/>
        </p:nvSpPr>
        <p:spPr>
          <a:xfrm>
            <a:off x="6126480" y="822960"/>
            <a:ext cx="2560320" cy="2560320"/>
          </a:xfrm>
          <a:prstGeom prst="rect">
            <a:avLst/>
          </a:prstGeom>
          <a:solidFill>
            <a:srgbClr val="131C2E"/>
          </a:solidFill>
          <a:ln w="12700">
            <a:solidFill>
              <a:srgbClr val="134E4A"/>
            </a:solidFill>
            <a:prstDash val="solid"/>
          </a:ln>
          <a:effectLst>
            <a:outerShdw sx="100000" sy="100000" kx="0" ky="0" algn="bl" rotWithShape="0" blurRad="152400" dist="50800" dir="8100000">
              <a:srgbClr val="000000">
                <a:alpha val="25000"/>
              </a:srgbClr>
            </a:outerShdw>
          </a:effectLst>
        </p:spPr>
      </p:sp>
      <p:sp>
        <p:nvSpPr>
          <p:cNvPr id="21" name="Shape 18"/>
          <p:cNvSpPr/>
          <p:nvPr/>
        </p:nvSpPr>
        <p:spPr>
          <a:xfrm>
            <a:off x="6126480" y="822960"/>
            <a:ext cx="2560320" cy="64008"/>
          </a:xfrm>
          <a:prstGeom prst="rect">
            <a:avLst/>
          </a:prstGeom>
          <a:solidFill>
            <a:srgbClr val="0D9488"/>
          </a:solidFill>
          <a:ln/>
        </p:spPr>
      </p:sp>
      <p:sp>
        <p:nvSpPr>
          <p:cNvPr id="22" name="Text 19"/>
          <p:cNvSpPr/>
          <p:nvPr/>
        </p:nvSpPr>
        <p:spPr>
          <a:xfrm>
            <a:off x="6263640" y="1005840"/>
            <a:ext cx="2286000" cy="1097280"/>
          </a:xfrm>
          <a:prstGeom prst="rect">
            <a:avLst/>
          </a:prstGeom>
          <a:noFill/>
          <a:ln/>
        </p:spPr>
        <p:txBody>
          <a:bodyPr wrap="square" lIns="0" tIns="0" rIns="0" bIns="0" rtlCol="0" anchor="ctr"/>
          <a:lstStyle/>
          <a:p>
            <a:pPr algn="ctr" indent="0" marL="0">
              <a:buNone/>
            </a:pPr>
            <a:r>
              <a:rPr lang="en-US" sz="4200" dirty="0">
                <a:solidFill>
                  <a:srgbClr val="0D9488"/>
                </a:solidFill>
                <a:latin typeface="Georgia" pitchFamily="34" charset="0"/>
                <a:ea typeface="Georgia" pitchFamily="34" charset="-122"/>
                <a:cs typeface="Georgia" pitchFamily="34" charset="-120"/>
              </a:rPr>
              <a:t>Accountability Gaps</a:t>
            </a:r>
            <a:endParaRPr lang="en-US" sz="4200" dirty="0"/>
          </a:p>
        </p:txBody>
      </p:sp>
      <p:sp>
        <p:nvSpPr>
          <p:cNvPr id="23" name="Text 20"/>
          <p:cNvSpPr/>
          <p:nvPr/>
        </p:nvSpPr>
        <p:spPr>
          <a:xfrm>
            <a:off x="6217920" y="2103120"/>
            <a:ext cx="2377440" cy="548640"/>
          </a:xfrm>
          <a:prstGeom prst="rect">
            <a:avLst/>
          </a:prstGeom>
          <a:noFill/>
          <a:ln/>
        </p:spPr>
        <p:txBody>
          <a:bodyPr wrap="square" lIns="0" tIns="0" rIns="0" bIns="0" rtlCol="0" anchor="ctr"/>
          <a:lstStyle/>
          <a:p>
            <a:pPr algn="ctr" indent="0" marL="0">
              <a:buNone/>
            </a:pPr>
            <a:r>
              <a:rPr lang="en-US" sz="1100" b="1" dirty="0">
                <a:solidFill>
                  <a:srgbClr val="E2E8F0"/>
                </a:solidFill>
                <a:latin typeface="Calibri" pitchFamily="34" charset="0"/>
                <a:ea typeface="Calibri" pitchFamily="34" charset="-122"/>
                <a:cs typeface="Calibri" pitchFamily="34" charset="-120"/>
              </a:rPr>
              <a:t>No named human owner</a:t>
            </a:r>
            <a:endParaRPr lang="en-US" sz="1100" dirty="0"/>
          </a:p>
        </p:txBody>
      </p:sp>
      <p:sp>
        <p:nvSpPr>
          <p:cNvPr id="24" name="Text 21"/>
          <p:cNvSpPr/>
          <p:nvPr/>
        </p:nvSpPr>
        <p:spPr>
          <a:xfrm>
            <a:off x="6217920" y="2697480"/>
            <a:ext cx="2377440" cy="457200"/>
          </a:xfrm>
          <a:prstGeom prst="rect">
            <a:avLst/>
          </a:prstGeom>
          <a:noFill/>
          <a:ln/>
        </p:spPr>
        <p:txBody>
          <a:bodyPr wrap="square" lIns="0" tIns="0" rIns="0" bIns="0" rtlCol="0" anchor="ctr"/>
          <a:lstStyle/>
          <a:p>
            <a:pPr algn="ctr" indent="0" marL="0">
              <a:buNone/>
            </a:pPr>
            <a:r>
              <a:rPr lang="en-US" sz="900" i="1" dirty="0">
                <a:solidFill>
                  <a:srgbClr val="64748B"/>
                </a:solidFill>
                <a:latin typeface="Calibri" pitchFamily="34" charset="0"/>
                <a:ea typeface="Calibri" pitchFamily="34" charset="-122"/>
                <a:cs typeface="Calibri" pitchFamily="34" charset="-120"/>
              </a:rPr>
              <a:t>When something goes wrong, nobody can say who validated the AI output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623"/>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0F1A"/>
          </a:solidFill>
          <a:ln/>
        </p:spPr>
      </p:sp>
      <p:sp>
        <p:nvSpPr>
          <p:cNvPr id="3" name="Shape 1"/>
          <p:cNvSpPr/>
          <p:nvPr/>
        </p:nvSpPr>
        <p:spPr>
          <a:xfrm>
            <a:off x="0" y="0"/>
            <a:ext cx="109728" cy="658368"/>
          </a:xfrm>
          <a:prstGeom prst="rect">
            <a:avLst/>
          </a:prstGeom>
          <a:solidFill>
            <a:srgbClr val="0D9488"/>
          </a:solidFill>
          <a:ln/>
        </p:spPr>
      </p:sp>
      <p:sp>
        <p:nvSpPr>
          <p:cNvPr id="4" name="Text 2"/>
          <p:cNvSpPr/>
          <p:nvPr/>
        </p:nvSpPr>
        <p:spPr>
          <a:xfrm>
            <a:off x="256032" y="0"/>
            <a:ext cx="7498080" cy="658368"/>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What Good Looks Like: A Governance Maturity Curve</a:t>
            </a:r>
            <a:endParaRPr lang="en-US" sz="1800" dirty="0"/>
          </a:p>
        </p:txBody>
      </p:sp>
      <p:sp>
        <p:nvSpPr>
          <p:cNvPr id="5" name="Text 3"/>
          <p:cNvSpPr/>
          <p:nvPr/>
        </p:nvSpPr>
        <p:spPr>
          <a:xfrm>
            <a:off x="8321040" y="0"/>
            <a:ext cx="658368" cy="65836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11</a:t>
            </a:r>
            <a:endParaRPr lang="en-US" sz="1100" dirty="0"/>
          </a:p>
        </p:txBody>
      </p:sp>
      <p:sp>
        <p:nvSpPr>
          <p:cNvPr id="6" name="Shape 4"/>
          <p:cNvSpPr/>
          <p:nvPr/>
        </p:nvSpPr>
        <p:spPr>
          <a:xfrm>
            <a:off x="0" y="4956048"/>
            <a:ext cx="9144000" cy="187452"/>
          </a:xfrm>
          <a:prstGeom prst="rect">
            <a:avLst/>
          </a:prstGeom>
          <a:solidFill>
            <a:srgbClr val="0A0F1A"/>
          </a:solidFill>
          <a:ln/>
        </p:spPr>
      </p:sp>
      <p:sp>
        <p:nvSpPr>
          <p:cNvPr id="7" name="Text 5"/>
          <p:cNvSpPr/>
          <p:nvPr/>
        </p:nvSpPr>
        <p:spPr>
          <a:xfrm>
            <a:off x="256032" y="49651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Data Mastery  ·  datamastery.com.au</a:t>
            </a:r>
            <a:endParaRPr lang="en-US" sz="800" dirty="0"/>
          </a:p>
        </p:txBody>
      </p:sp>
      <p:sp>
        <p:nvSpPr>
          <p:cNvPr id="8" name="Text 6"/>
          <p:cNvSpPr/>
          <p:nvPr/>
        </p:nvSpPr>
        <p:spPr>
          <a:xfrm>
            <a:off x="6858000" y="4965192"/>
            <a:ext cx="210312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 2026 Vinnie Kura</a:t>
            </a:r>
            <a:endParaRPr lang="en-US" sz="800" dirty="0"/>
          </a:p>
        </p:txBody>
      </p:sp>
      <p:sp>
        <p:nvSpPr>
          <p:cNvPr id="10" name="Shape 7"/>
          <p:cNvSpPr/>
          <p:nvPr/>
        </p:nvSpPr>
        <p:spPr>
          <a:xfrm>
            <a:off x="365760" y="868680"/>
            <a:ext cx="502920" cy="502920"/>
          </a:xfrm>
          <a:prstGeom prst="ellipse">
            <a:avLst/>
          </a:prstGeom>
          <a:solidFill>
            <a:srgbClr val="0D9488"/>
          </a:solidFill>
          <a:ln/>
        </p:spPr>
      </p:sp>
      <p:sp>
        <p:nvSpPr>
          <p:cNvPr id="11" name="Text 8"/>
          <p:cNvSpPr/>
          <p:nvPr/>
        </p:nvSpPr>
        <p:spPr>
          <a:xfrm>
            <a:off x="365760" y="8686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2" name="Shape 9"/>
          <p:cNvSpPr/>
          <p:nvPr/>
        </p:nvSpPr>
        <p:spPr>
          <a:xfrm>
            <a:off x="612648" y="1371600"/>
            <a:ext cx="0" cy="429768"/>
          </a:xfrm>
          <a:prstGeom prst="line">
            <a:avLst/>
          </a:prstGeom>
          <a:noFill/>
          <a:ln w="12700">
            <a:solidFill>
              <a:srgbClr val="134E4A"/>
            </a:solidFill>
            <a:prstDash val="dash"/>
          </a:ln>
        </p:spPr>
      </p:sp>
      <p:sp>
        <p:nvSpPr>
          <p:cNvPr id="13" name="Shape 10"/>
          <p:cNvSpPr/>
          <p:nvPr/>
        </p:nvSpPr>
        <p:spPr>
          <a:xfrm>
            <a:off x="1051560" y="822960"/>
            <a:ext cx="7635240" cy="868680"/>
          </a:xfrm>
          <a:prstGeom prst="rect">
            <a:avLst/>
          </a:prstGeom>
          <a:solidFill>
            <a:srgbClr val="131C2E"/>
          </a:solidFill>
          <a:ln w="12700">
            <a:solidFill>
              <a:srgbClr val="134E4A"/>
            </a:solidFill>
            <a:prstDash val="solid"/>
          </a:ln>
        </p:spPr>
      </p:sp>
      <p:sp>
        <p:nvSpPr>
          <p:cNvPr id="14" name="Text 11"/>
          <p:cNvSpPr/>
          <p:nvPr/>
        </p:nvSpPr>
        <p:spPr>
          <a:xfrm>
            <a:off x="1188720" y="859536"/>
            <a:ext cx="45720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Level 1 — Aware</a:t>
            </a:r>
            <a:endParaRPr lang="en-US" sz="1300" dirty="0"/>
          </a:p>
        </p:txBody>
      </p:sp>
      <p:sp>
        <p:nvSpPr>
          <p:cNvPr id="15" name="Text 12"/>
          <p:cNvSpPr/>
          <p:nvPr/>
        </p:nvSpPr>
        <p:spPr>
          <a:xfrm>
            <a:off x="1188720" y="1207008"/>
            <a:ext cx="7315200" cy="4114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Team can identify which sprint artefacts were AI-generated versus human-authored</a:t>
            </a:r>
            <a:endParaRPr lang="en-US" sz="1100" dirty="0"/>
          </a:p>
        </p:txBody>
      </p:sp>
      <p:sp>
        <p:nvSpPr>
          <p:cNvPr id="16" name="Shape 13"/>
          <p:cNvSpPr/>
          <p:nvPr/>
        </p:nvSpPr>
        <p:spPr>
          <a:xfrm>
            <a:off x="365760" y="1847088"/>
            <a:ext cx="502920" cy="502920"/>
          </a:xfrm>
          <a:prstGeom prst="ellipse">
            <a:avLst/>
          </a:prstGeom>
          <a:solidFill>
            <a:srgbClr val="0D9488"/>
          </a:solidFill>
          <a:ln/>
        </p:spPr>
      </p:sp>
      <p:sp>
        <p:nvSpPr>
          <p:cNvPr id="17" name="Text 14"/>
          <p:cNvSpPr/>
          <p:nvPr/>
        </p:nvSpPr>
        <p:spPr>
          <a:xfrm>
            <a:off x="365760" y="184708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8" name="Shape 15"/>
          <p:cNvSpPr/>
          <p:nvPr/>
        </p:nvSpPr>
        <p:spPr>
          <a:xfrm>
            <a:off x="612648" y="2350008"/>
            <a:ext cx="0" cy="429768"/>
          </a:xfrm>
          <a:prstGeom prst="line">
            <a:avLst/>
          </a:prstGeom>
          <a:noFill/>
          <a:ln w="12700">
            <a:solidFill>
              <a:srgbClr val="134E4A"/>
            </a:solidFill>
            <a:prstDash val="dash"/>
          </a:ln>
        </p:spPr>
      </p:sp>
      <p:sp>
        <p:nvSpPr>
          <p:cNvPr id="19" name="Shape 16"/>
          <p:cNvSpPr/>
          <p:nvPr/>
        </p:nvSpPr>
        <p:spPr>
          <a:xfrm>
            <a:off x="1051560" y="1801368"/>
            <a:ext cx="7635240" cy="868680"/>
          </a:xfrm>
          <a:prstGeom prst="rect">
            <a:avLst/>
          </a:prstGeom>
          <a:solidFill>
            <a:srgbClr val="131C2E"/>
          </a:solidFill>
          <a:ln w="12700">
            <a:solidFill>
              <a:srgbClr val="134E4A"/>
            </a:solidFill>
            <a:prstDash val="solid"/>
          </a:ln>
        </p:spPr>
      </p:sp>
      <p:sp>
        <p:nvSpPr>
          <p:cNvPr id="20" name="Text 17"/>
          <p:cNvSpPr/>
          <p:nvPr/>
        </p:nvSpPr>
        <p:spPr>
          <a:xfrm>
            <a:off x="1188720" y="1837944"/>
            <a:ext cx="45720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Level 2 — Declared</a:t>
            </a:r>
            <a:endParaRPr lang="en-US" sz="1300" dirty="0"/>
          </a:p>
        </p:txBody>
      </p:sp>
      <p:sp>
        <p:nvSpPr>
          <p:cNvPr id="21" name="Text 18"/>
          <p:cNvSpPr/>
          <p:nvPr/>
        </p:nvSpPr>
        <p:spPr>
          <a:xfrm>
            <a:off x="1188720" y="2185416"/>
            <a:ext cx="7315200" cy="4114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Source declaration is a verbal habit in Planning; no AI story enters sprint without provenance</a:t>
            </a:r>
            <a:endParaRPr lang="en-US" sz="1100" dirty="0"/>
          </a:p>
        </p:txBody>
      </p:sp>
      <p:sp>
        <p:nvSpPr>
          <p:cNvPr id="22" name="Shape 19"/>
          <p:cNvSpPr/>
          <p:nvPr/>
        </p:nvSpPr>
        <p:spPr>
          <a:xfrm>
            <a:off x="365760" y="2825496"/>
            <a:ext cx="502920" cy="502920"/>
          </a:xfrm>
          <a:prstGeom prst="ellipse">
            <a:avLst/>
          </a:prstGeom>
          <a:solidFill>
            <a:srgbClr val="0D9488"/>
          </a:solidFill>
          <a:ln/>
        </p:spPr>
      </p:sp>
      <p:sp>
        <p:nvSpPr>
          <p:cNvPr id="23" name="Text 20"/>
          <p:cNvSpPr/>
          <p:nvPr/>
        </p:nvSpPr>
        <p:spPr>
          <a:xfrm>
            <a:off x="365760" y="2825496"/>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4" name="Shape 21"/>
          <p:cNvSpPr/>
          <p:nvPr/>
        </p:nvSpPr>
        <p:spPr>
          <a:xfrm>
            <a:off x="612648" y="3328416"/>
            <a:ext cx="0" cy="429768"/>
          </a:xfrm>
          <a:prstGeom prst="line">
            <a:avLst/>
          </a:prstGeom>
          <a:noFill/>
          <a:ln w="12700">
            <a:solidFill>
              <a:srgbClr val="134E4A"/>
            </a:solidFill>
            <a:prstDash val="dash"/>
          </a:ln>
        </p:spPr>
      </p:sp>
      <p:sp>
        <p:nvSpPr>
          <p:cNvPr id="25" name="Shape 22"/>
          <p:cNvSpPr/>
          <p:nvPr/>
        </p:nvSpPr>
        <p:spPr>
          <a:xfrm>
            <a:off x="1051560" y="2779776"/>
            <a:ext cx="7635240" cy="868680"/>
          </a:xfrm>
          <a:prstGeom prst="rect">
            <a:avLst/>
          </a:prstGeom>
          <a:solidFill>
            <a:srgbClr val="131C2E"/>
          </a:solidFill>
          <a:ln w="12700">
            <a:solidFill>
              <a:srgbClr val="134E4A"/>
            </a:solidFill>
            <a:prstDash val="solid"/>
          </a:ln>
        </p:spPr>
      </p:sp>
      <p:sp>
        <p:nvSpPr>
          <p:cNvPr id="26" name="Text 23"/>
          <p:cNvSpPr/>
          <p:nvPr/>
        </p:nvSpPr>
        <p:spPr>
          <a:xfrm>
            <a:off x="1188720" y="2816352"/>
            <a:ext cx="45720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Level 3 — Embedded</a:t>
            </a:r>
            <a:endParaRPr lang="en-US" sz="1300" dirty="0"/>
          </a:p>
        </p:txBody>
      </p:sp>
      <p:sp>
        <p:nvSpPr>
          <p:cNvPr id="27" name="Text 24"/>
          <p:cNvSpPr/>
          <p:nvPr/>
        </p:nvSpPr>
        <p:spPr>
          <a:xfrm>
            <a:off x="1188720" y="3163824"/>
            <a:ext cx="7315200" cy="4114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DoD includes provenance, human review, and bias check clauses; applied consistently</a:t>
            </a:r>
            <a:endParaRPr lang="en-US" sz="1100" dirty="0"/>
          </a:p>
        </p:txBody>
      </p:sp>
      <p:sp>
        <p:nvSpPr>
          <p:cNvPr id="28" name="Shape 25"/>
          <p:cNvSpPr/>
          <p:nvPr/>
        </p:nvSpPr>
        <p:spPr>
          <a:xfrm>
            <a:off x="365760" y="3803904"/>
            <a:ext cx="502920" cy="502920"/>
          </a:xfrm>
          <a:prstGeom prst="ellipse">
            <a:avLst/>
          </a:prstGeom>
          <a:solidFill>
            <a:srgbClr val="0D9488"/>
          </a:solidFill>
          <a:ln/>
        </p:spPr>
      </p:sp>
      <p:sp>
        <p:nvSpPr>
          <p:cNvPr id="29" name="Text 26"/>
          <p:cNvSpPr/>
          <p:nvPr/>
        </p:nvSpPr>
        <p:spPr>
          <a:xfrm>
            <a:off x="365760" y="3803904"/>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30" name="Shape 27"/>
          <p:cNvSpPr/>
          <p:nvPr/>
        </p:nvSpPr>
        <p:spPr>
          <a:xfrm>
            <a:off x="1051560" y="3758184"/>
            <a:ext cx="7635240" cy="868680"/>
          </a:xfrm>
          <a:prstGeom prst="rect">
            <a:avLst/>
          </a:prstGeom>
          <a:solidFill>
            <a:srgbClr val="131C2E"/>
          </a:solidFill>
          <a:ln w="12700">
            <a:solidFill>
              <a:srgbClr val="134E4A"/>
            </a:solidFill>
            <a:prstDash val="solid"/>
          </a:ln>
        </p:spPr>
      </p:sp>
      <p:sp>
        <p:nvSpPr>
          <p:cNvPr id="31" name="Text 28"/>
          <p:cNvSpPr/>
          <p:nvPr/>
        </p:nvSpPr>
        <p:spPr>
          <a:xfrm>
            <a:off x="1188720" y="3794760"/>
            <a:ext cx="45720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Level 4 — Auditable</a:t>
            </a:r>
            <a:endParaRPr lang="en-US" sz="1300" dirty="0"/>
          </a:p>
        </p:txBody>
      </p:sp>
      <p:sp>
        <p:nvSpPr>
          <p:cNvPr id="32" name="Text 29"/>
          <p:cNvSpPr/>
          <p:nvPr/>
        </p:nvSpPr>
        <p:spPr>
          <a:xfrm>
            <a:off x="1188720" y="4142232"/>
            <a:ext cx="7315200" cy="41148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Full trace from AI input to delivery decision available on request; Scrum Master owns the log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623"/>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0F1A"/>
          </a:solidFill>
          <a:ln/>
        </p:spPr>
      </p:sp>
      <p:sp>
        <p:nvSpPr>
          <p:cNvPr id="3" name="Shape 1"/>
          <p:cNvSpPr/>
          <p:nvPr/>
        </p:nvSpPr>
        <p:spPr>
          <a:xfrm>
            <a:off x="0" y="0"/>
            <a:ext cx="109728" cy="658368"/>
          </a:xfrm>
          <a:prstGeom prst="rect">
            <a:avLst/>
          </a:prstGeom>
          <a:solidFill>
            <a:srgbClr val="0D9488"/>
          </a:solidFill>
          <a:ln/>
        </p:spPr>
      </p:sp>
      <p:sp>
        <p:nvSpPr>
          <p:cNvPr id="4" name="Text 2"/>
          <p:cNvSpPr/>
          <p:nvPr/>
        </p:nvSpPr>
        <p:spPr>
          <a:xfrm>
            <a:off x="256032" y="0"/>
            <a:ext cx="7498080" cy="658368"/>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Starting This Sprint: Three Actions, Zero New Tools</a:t>
            </a:r>
            <a:endParaRPr lang="en-US" sz="1800" dirty="0"/>
          </a:p>
        </p:txBody>
      </p:sp>
      <p:sp>
        <p:nvSpPr>
          <p:cNvPr id="5" name="Text 3"/>
          <p:cNvSpPr/>
          <p:nvPr/>
        </p:nvSpPr>
        <p:spPr>
          <a:xfrm>
            <a:off x="8321040" y="0"/>
            <a:ext cx="658368" cy="65836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12</a:t>
            </a:r>
            <a:endParaRPr lang="en-US" sz="1100" dirty="0"/>
          </a:p>
        </p:txBody>
      </p:sp>
      <p:sp>
        <p:nvSpPr>
          <p:cNvPr id="6" name="Shape 4"/>
          <p:cNvSpPr/>
          <p:nvPr/>
        </p:nvSpPr>
        <p:spPr>
          <a:xfrm>
            <a:off x="0" y="4956048"/>
            <a:ext cx="9144000" cy="187452"/>
          </a:xfrm>
          <a:prstGeom prst="rect">
            <a:avLst/>
          </a:prstGeom>
          <a:solidFill>
            <a:srgbClr val="0A0F1A"/>
          </a:solidFill>
          <a:ln/>
        </p:spPr>
      </p:sp>
      <p:sp>
        <p:nvSpPr>
          <p:cNvPr id="7" name="Text 5"/>
          <p:cNvSpPr/>
          <p:nvPr/>
        </p:nvSpPr>
        <p:spPr>
          <a:xfrm>
            <a:off x="256032" y="49651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Data Mastery  ·  datamastery.com.au</a:t>
            </a:r>
            <a:endParaRPr lang="en-US" sz="800" dirty="0"/>
          </a:p>
        </p:txBody>
      </p:sp>
      <p:sp>
        <p:nvSpPr>
          <p:cNvPr id="8" name="Text 6"/>
          <p:cNvSpPr/>
          <p:nvPr/>
        </p:nvSpPr>
        <p:spPr>
          <a:xfrm>
            <a:off x="6858000" y="4965192"/>
            <a:ext cx="210312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 2026 Vinnie Kura</a:t>
            </a:r>
            <a:endParaRPr lang="en-US" sz="800" dirty="0"/>
          </a:p>
        </p:txBody>
      </p:sp>
      <p:sp>
        <p:nvSpPr>
          <p:cNvPr id="10" name="Shape 7"/>
          <p:cNvSpPr/>
          <p:nvPr/>
        </p:nvSpPr>
        <p:spPr>
          <a:xfrm>
            <a:off x="6217920" y="777240"/>
            <a:ext cx="2560320" cy="4023360"/>
          </a:xfrm>
          <a:prstGeom prst="rect">
            <a:avLst/>
          </a:prstGeom>
          <a:solidFill>
            <a:srgbClr val="131C2E"/>
          </a:solidFill>
          <a:ln w="12700">
            <a:solidFill>
              <a:srgbClr val="0D9488"/>
            </a:solidFill>
            <a:prstDash val="solid"/>
          </a:ln>
          <a:effectLst>
            <a:outerShdw sx="100000" sy="100000" kx="0" ky="0" algn="bl" rotWithShape="0" blurRad="152400" dist="50800" dir="8100000">
              <a:srgbClr val="000000">
                <a:alpha val="25000"/>
              </a:srgbClr>
            </a:outerShdw>
          </a:effectLst>
        </p:spPr>
      </p:sp>
      <p:sp>
        <p:nvSpPr>
          <p:cNvPr id="11" name="Shape 8"/>
          <p:cNvSpPr/>
          <p:nvPr/>
        </p:nvSpPr>
        <p:spPr>
          <a:xfrm>
            <a:off x="6217920" y="777240"/>
            <a:ext cx="2560320" cy="54864"/>
          </a:xfrm>
          <a:prstGeom prst="rect">
            <a:avLst/>
          </a:prstGeom>
          <a:solidFill>
            <a:srgbClr val="0D9488"/>
          </a:solidFill>
          <a:ln/>
        </p:spPr>
      </p:sp>
      <p:sp>
        <p:nvSpPr>
          <p:cNvPr id="12" name="Text 9"/>
          <p:cNvSpPr/>
          <p:nvPr/>
        </p:nvSpPr>
        <p:spPr>
          <a:xfrm>
            <a:off x="6263640" y="822960"/>
            <a:ext cx="2468880" cy="347472"/>
          </a:xfrm>
          <a:prstGeom prst="rect">
            <a:avLst/>
          </a:prstGeom>
          <a:noFill/>
          <a:ln/>
        </p:spPr>
        <p:txBody>
          <a:bodyPr wrap="square" lIns="0" tIns="0" rIns="0" bIns="0" rtlCol="0" anchor="ctr"/>
          <a:lstStyle/>
          <a:p>
            <a:pPr indent="0" marL="0">
              <a:buNone/>
            </a:pPr>
            <a:r>
              <a:rPr lang="en-US" sz="900" b="1" spc="200" kern="0" dirty="0">
                <a:solidFill>
                  <a:srgbClr val="0D9488"/>
                </a:solidFill>
                <a:latin typeface="Calibri" pitchFamily="34" charset="0"/>
                <a:ea typeface="Calibri" pitchFamily="34" charset="-122"/>
                <a:cs typeface="Calibri" pitchFamily="34" charset="-120"/>
              </a:rPr>
              <a:t>KEY INSIGHT</a:t>
            </a:r>
            <a:endParaRPr lang="en-US" sz="900" dirty="0"/>
          </a:p>
        </p:txBody>
      </p:sp>
      <p:sp>
        <p:nvSpPr>
          <p:cNvPr id="13" name="Text 10"/>
          <p:cNvSpPr/>
          <p:nvPr/>
        </p:nvSpPr>
        <p:spPr>
          <a:xfrm>
            <a:off x="6263640" y="1188720"/>
            <a:ext cx="2468880" cy="3383280"/>
          </a:xfrm>
          <a:prstGeom prst="rect">
            <a:avLst/>
          </a:prstGeom>
          <a:noFill/>
          <a:ln/>
        </p:spPr>
        <p:txBody>
          <a:bodyPr wrap="square" lIns="0" tIns="0" rIns="0" bIns="0" rtlCol="0" anchor="t"/>
          <a:lstStyle/>
          <a:p>
            <a:pPr indent="0" marL="0">
              <a:buNone/>
            </a:pPr>
            <a:r>
              <a:rPr lang="en-US" sz="1200" i="1" dirty="0">
                <a:solidFill>
                  <a:srgbClr val="E2E8F0"/>
                </a:solidFill>
                <a:latin typeface="Georgia" pitchFamily="34" charset="0"/>
                <a:ea typeface="Georgia" pitchFamily="34" charset="-122"/>
                <a:cs typeface="Georgia" pitchFamily="34" charset="-120"/>
              </a:rPr>
              <a:t>The goal isn't perfection. It's making AI influence visible and human judgement explicit.</a:t>
            </a:r>
            <a:endParaRPr lang="en-US" sz="1200" dirty="0"/>
          </a:p>
        </p:txBody>
      </p:sp>
      <p:sp>
        <p:nvSpPr>
          <p:cNvPr id="14" name="Text 11"/>
          <p:cNvSpPr/>
          <p:nvPr/>
        </p:nvSpPr>
        <p:spPr>
          <a:xfrm>
            <a:off x="411480" y="777240"/>
            <a:ext cx="5486400" cy="548640"/>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Governance doesn't require a project. These three habits can start in your next ceremony.</a:t>
            </a:r>
            <a:endParaRPr lang="en-US" sz="1300" dirty="0"/>
          </a:p>
        </p:txBody>
      </p:sp>
      <p:sp>
        <p:nvSpPr>
          <p:cNvPr id="15" name="Text 12"/>
          <p:cNvSpPr/>
          <p:nvPr/>
        </p:nvSpPr>
        <p:spPr>
          <a:xfrm>
            <a:off x="411480" y="1371600"/>
            <a:ext cx="5486400" cy="34518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Add 'AI-generated?' as a tag in your backlog template today</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Ask one provenance question aloud in next Sprint Planning</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Draft two DoD clauses — provenance and human review — this retro</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Name one person accountable for AI artefact review per sprint</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At next Review, ask: 'What did the AI summary miss?'</a:t>
            </a:r>
            <a:endParaRPr lang="en-US" sz="1400" dirty="0"/>
          </a:p>
          <a:p>
            <a:pPr marL="342900" indent="-342900">
              <a:spcAft>
                <a:spcPts val="600"/>
              </a:spcAft>
              <a:buSzPct val="100000"/>
              <a:buChar char="•"/>
            </a:pPr>
            <a:r>
              <a:rPr lang="en-US" sz="1400" dirty="0">
                <a:solidFill>
                  <a:srgbClr val="E2E8F0"/>
                </a:solidFill>
                <a:latin typeface="Calibri" pitchFamily="34" charset="0"/>
                <a:ea typeface="Calibri" pitchFamily="34" charset="-122"/>
                <a:cs typeface="Calibri" pitchFamily="34" charset="-120"/>
              </a:rPr>
              <a:t>Log one human override of an AI recommendation this week</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623"/>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0F1A"/>
          </a:solidFill>
          <a:ln/>
        </p:spPr>
      </p:sp>
      <p:sp>
        <p:nvSpPr>
          <p:cNvPr id="3" name="Shape 1"/>
          <p:cNvSpPr/>
          <p:nvPr/>
        </p:nvSpPr>
        <p:spPr>
          <a:xfrm>
            <a:off x="0" y="0"/>
            <a:ext cx="109728" cy="658368"/>
          </a:xfrm>
          <a:prstGeom prst="rect">
            <a:avLst/>
          </a:prstGeom>
          <a:solidFill>
            <a:srgbClr val="0D9488"/>
          </a:solidFill>
          <a:ln/>
        </p:spPr>
      </p:sp>
      <p:sp>
        <p:nvSpPr>
          <p:cNvPr id="4" name="Text 2"/>
          <p:cNvSpPr/>
          <p:nvPr/>
        </p:nvSpPr>
        <p:spPr>
          <a:xfrm>
            <a:off x="256032" y="0"/>
            <a:ext cx="7498080" cy="658368"/>
          </a:xfrm>
          <a:prstGeom prst="rect">
            <a:avLst/>
          </a:prstGeom>
          <a:noFill/>
          <a:ln/>
        </p:spPr>
        <p:txBody>
          <a:bodyPr wrap="square" lIns="0" tIns="0" rIns="0" bIns="0" rtlCol="0" anchor="ctr"/>
          <a:lstStyle/>
          <a:p>
            <a:pPr indent="0" marL="0">
              <a:buNone/>
            </a:pPr>
            <a:r>
              <a:rPr lang="en-US" sz="1800" dirty="0">
                <a:solidFill>
                  <a:srgbClr val="FFFFFF"/>
                </a:solidFill>
                <a:latin typeface="Georgia" pitchFamily="34" charset="0"/>
                <a:ea typeface="Georgia" pitchFamily="34" charset="-122"/>
                <a:cs typeface="Georgia" pitchFamily="34" charset="-120"/>
              </a:rPr>
              <a:t>The Scrum Master's New Accountability</a:t>
            </a:r>
            <a:endParaRPr lang="en-US" sz="1800" dirty="0"/>
          </a:p>
        </p:txBody>
      </p:sp>
      <p:sp>
        <p:nvSpPr>
          <p:cNvPr id="5" name="Text 3"/>
          <p:cNvSpPr/>
          <p:nvPr/>
        </p:nvSpPr>
        <p:spPr>
          <a:xfrm>
            <a:off x="8321040" y="0"/>
            <a:ext cx="658368" cy="658368"/>
          </a:xfrm>
          <a:prstGeom prst="rect">
            <a:avLst/>
          </a:prstGeom>
          <a:noFill/>
          <a:ln/>
        </p:spPr>
        <p:txBody>
          <a:bodyPr wrap="square" lIns="0" tIns="0" rIns="0" bIns="0"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13</a:t>
            </a:r>
            <a:endParaRPr lang="en-US" sz="1100" dirty="0"/>
          </a:p>
        </p:txBody>
      </p:sp>
      <p:sp>
        <p:nvSpPr>
          <p:cNvPr id="6" name="Shape 4"/>
          <p:cNvSpPr/>
          <p:nvPr/>
        </p:nvSpPr>
        <p:spPr>
          <a:xfrm>
            <a:off x="0" y="4956048"/>
            <a:ext cx="9144000" cy="187452"/>
          </a:xfrm>
          <a:prstGeom prst="rect">
            <a:avLst/>
          </a:prstGeom>
          <a:solidFill>
            <a:srgbClr val="0A0F1A"/>
          </a:solidFill>
          <a:ln/>
        </p:spPr>
      </p:sp>
      <p:sp>
        <p:nvSpPr>
          <p:cNvPr id="7" name="Text 5"/>
          <p:cNvSpPr/>
          <p:nvPr/>
        </p:nvSpPr>
        <p:spPr>
          <a:xfrm>
            <a:off x="256032" y="4965192"/>
            <a:ext cx="5486400" cy="16459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Data Mastery  ·  datamastery.com.au</a:t>
            </a:r>
            <a:endParaRPr lang="en-US" sz="800" dirty="0"/>
          </a:p>
        </p:txBody>
      </p:sp>
      <p:sp>
        <p:nvSpPr>
          <p:cNvPr id="8" name="Text 6"/>
          <p:cNvSpPr/>
          <p:nvPr/>
        </p:nvSpPr>
        <p:spPr>
          <a:xfrm>
            <a:off x="6858000" y="4965192"/>
            <a:ext cx="2103120" cy="164592"/>
          </a:xfrm>
          <a:prstGeom prst="rect">
            <a:avLst/>
          </a:prstGeom>
          <a:noFill/>
          <a:ln/>
        </p:spPr>
        <p:txBody>
          <a:bodyPr wrap="square" lIns="0" tIns="0" rIns="0" bIns="0" rtlCol="0" anchor="ctr"/>
          <a:lstStyle/>
          <a:p>
            <a:pPr algn="r" indent="0" marL="0">
              <a:buNone/>
            </a:pPr>
            <a:r>
              <a:rPr lang="en-US" sz="800" dirty="0">
                <a:solidFill>
                  <a:srgbClr val="64748B"/>
                </a:solidFill>
                <a:latin typeface="Calibri" pitchFamily="34" charset="0"/>
                <a:ea typeface="Calibri" pitchFamily="34" charset="-122"/>
                <a:cs typeface="Calibri" pitchFamily="34" charset="-120"/>
              </a:rPr>
              <a:t>© 2026 Vinnie Kura</a:t>
            </a:r>
            <a:endParaRPr lang="en-US" sz="800" dirty="0"/>
          </a:p>
        </p:txBody>
      </p:sp>
      <p:sp>
        <p:nvSpPr>
          <p:cNvPr id="10" name="Shape 7"/>
          <p:cNvSpPr/>
          <p:nvPr/>
        </p:nvSpPr>
        <p:spPr>
          <a:xfrm>
            <a:off x="457200" y="777240"/>
            <a:ext cx="8229600" cy="3200400"/>
          </a:xfrm>
          <a:prstGeom prst="rect">
            <a:avLst/>
          </a:prstGeom>
          <a:solidFill>
            <a:srgbClr val="131C2E"/>
          </a:solidFill>
          <a:ln w="12700">
            <a:solidFill>
              <a:srgbClr val="134E4A"/>
            </a:solidFill>
            <a:prstDash val="solid"/>
          </a:ln>
          <a:effectLst>
            <a:outerShdw sx="100000" sy="100000" kx="0" ky="0" algn="bl" rotWithShape="0" blurRad="152400" dist="50800" dir="8100000">
              <a:srgbClr val="000000">
                <a:alpha val="25000"/>
              </a:srgbClr>
            </a:outerShdw>
          </a:effectLst>
        </p:spPr>
      </p:sp>
      <p:sp>
        <p:nvSpPr>
          <p:cNvPr id="11" name="Shape 8"/>
          <p:cNvSpPr/>
          <p:nvPr/>
        </p:nvSpPr>
        <p:spPr>
          <a:xfrm>
            <a:off x="457200" y="777240"/>
            <a:ext cx="109728" cy="3200400"/>
          </a:xfrm>
          <a:prstGeom prst="rect">
            <a:avLst/>
          </a:prstGeom>
          <a:solidFill>
            <a:srgbClr val="0D9488"/>
          </a:solidFill>
          <a:ln/>
        </p:spPr>
      </p:sp>
      <p:sp>
        <p:nvSpPr>
          <p:cNvPr id="12" name="Text 9"/>
          <p:cNvSpPr/>
          <p:nvPr/>
        </p:nvSpPr>
        <p:spPr>
          <a:xfrm>
            <a:off x="731520" y="822960"/>
            <a:ext cx="914400" cy="914400"/>
          </a:xfrm>
          <a:prstGeom prst="rect">
            <a:avLst/>
          </a:prstGeom>
          <a:noFill/>
          <a:ln/>
        </p:spPr>
        <p:txBody>
          <a:bodyPr wrap="square" lIns="0" tIns="0" rIns="0" bIns="0" rtlCol="0" anchor="ctr"/>
          <a:lstStyle/>
          <a:p>
            <a:pPr indent="0" marL="0">
              <a:buNone/>
            </a:pPr>
            <a:r>
              <a:rPr lang="en-US" sz="8000" dirty="0">
                <a:solidFill>
                  <a:srgbClr val="134E4A"/>
                </a:solidFill>
                <a:latin typeface="Georgia" pitchFamily="34" charset="0"/>
                <a:ea typeface="Georgia" pitchFamily="34" charset="-122"/>
                <a:cs typeface="Georgia" pitchFamily="34" charset="-120"/>
              </a:rPr>
              <a:t>“</a:t>
            </a:r>
            <a:endParaRPr lang="en-US" sz="8000" dirty="0"/>
          </a:p>
        </p:txBody>
      </p:sp>
      <p:sp>
        <p:nvSpPr>
          <p:cNvPr id="13" name="Text 10"/>
          <p:cNvSpPr/>
          <p:nvPr/>
        </p:nvSpPr>
        <p:spPr>
          <a:xfrm>
            <a:off x="777240" y="1371600"/>
            <a:ext cx="7589520" cy="2011680"/>
          </a:xfrm>
          <a:prstGeom prst="rect">
            <a:avLst/>
          </a:prstGeom>
          <a:noFill/>
          <a:ln/>
        </p:spPr>
        <p:txBody>
          <a:bodyPr wrap="square" lIns="0" tIns="0" rIns="0" bIns="0" rtlCol="0" anchor="ctr"/>
          <a:lstStyle/>
          <a:p>
            <a:pPr indent="0" marL="0">
              <a:buNone/>
            </a:pPr>
            <a:r>
              <a:rPr lang="en-US" sz="1800" i="1" dirty="0">
                <a:solidFill>
                  <a:srgbClr val="E2E8F0"/>
                </a:solidFill>
                <a:latin typeface="Georgia" pitchFamily="34" charset="0"/>
                <a:ea typeface="Georgia" pitchFamily="34" charset="-122"/>
                <a:cs typeface="Georgia" pitchFamily="34" charset="-120"/>
              </a:rPr>
              <a:t>The Scrum Master who governs AI artefacts isn't slowing delivery. They're making sure that what gets delivered can be trusted, traced, and defended — and that the team, not the model, owns the outcome.</a:t>
            </a:r>
            <a:endParaRPr lang="en-US" sz="1800" dirty="0"/>
          </a:p>
        </p:txBody>
      </p:sp>
      <p:sp>
        <p:nvSpPr>
          <p:cNvPr id="14" name="Text 11"/>
          <p:cNvSpPr/>
          <p:nvPr/>
        </p:nvSpPr>
        <p:spPr>
          <a:xfrm>
            <a:off x="777240" y="4114800"/>
            <a:ext cx="7589520" cy="45720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 Practical AI Governance for Scrum Masters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F1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p:spPr>
      </p:sp>
      <p:sp>
        <p:nvSpPr>
          <p:cNvPr id="3" name="Shape 1"/>
          <p:cNvSpPr/>
          <p:nvPr/>
        </p:nvSpPr>
        <p:spPr>
          <a:xfrm>
            <a:off x="164592" y="4389120"/>
            <a:ext cx="8979408" cy="754380"/>
          </a:xfrm>
          <a:prstGeom prst="rect">
            <a:avLst/>
          </a:prstGeom>
          <a:solidFill>
            <a:srgbClr val="131C2E"/>
          </a:solidFill>
          <a:ln/>
        </p:spPr>
      </p:sp>
      <p:sp>
        <p:nvSpPr>
          <p:cNvPr id="4" name="Text 2"/>
          <p:cNvSpPr/>
          <p:nvPr/>
        </p:nvSpPr>
        <p:spPr>
          <a:xfrm>
            <a:off x="411480" y="640080"/>
            <a:ext cx="8229600" cy="1097280"/>
          </a:xfrm>
          <a:prstGeom prst="rect">
            <a:avLst/>
          </a:prstGeom>
          <a:noFill/>
          <a:ln/>
        </p:spPr>
        <p:txBody>
          <a:bodyPr wrap="square" lIns="0" tIns="0" rIns="0" bIns="0" rtlCol="0" anchor="ctr"/>
          <a:lstStyle/>
          <a:p>
            <a:pPr indent="0" marL="0">
              <a:buNone/>
            </a:pPr>
            <a:r>
              <a:rPr lang="en-US" sz="4400" dirty="0">
                <a:solidFill>
                  <a:srgbClr val="FFFFFF"/>
                </a:solidFill>
                <a:latin typeface="Georgia" pitchFamily="34" charset="0"/>
                <a:ea typeface="Georgia" pitchFamily="34" charset="-122"/>
                <a:cs typeface="Georgia" pitchFamily="34" charset="-120"/>
              </a:rPr>
              <a:t>Thank you.</a:t>
            </a:r>
            <a:endParaRPr lang="en-US" sz="4400" dirty="0"/>
          </a:p>
        </p:txBody>
      </p:sp>
      <p:sp>
        <p:nvSpPr>
          <p:cNvPr id="5" name="Text 3"/>
          <p:cNvSpPr/>
          <p:nvPr/>
        </p:nvSpPr>
        <p:spPr>
          <a:xfrm>
            <a:off x="411480" y="1691640"/>
            <a:ext cx="8229600" cy="640080"/>
          </a:xfrm>
          <a:prstGeom prst="rect">
            <a:avLst/>
          </a:prstGeom>
          <a:noFill/>
          <a:ln/>
        </p:spPr>
        <p:txBody>
          <a:bodyPr wrap="square" lIns="0" tIns="0" rIns="0" bIns="0" rtlCol="0" anchor="ctr"/>
          <a:lstStyle/>
          <a:p>
            <a:pPr indent="0" marL="0">
              <a:buNone/>
            </a:pPr>
            <a:r>
              <a:rPr lang="en-US" sz="1600" i="1" dirty="0">
                <a:solidFill>
                  <a:srgbClr val="94A3B8"/>
                </a:solidFill>
                <a:latin typeface="Calibri" pitchFamily="34" charset="0"/>
                <a:ea typeface="Calibri" pitchFamily="34" charset="-122"/>
                <a:cs typeface="Calibri" pitchFamily="34" charset="-120"/>
              </a:rPr>
              <a:t>When Your Sprint Produces AI Outputs</a:t>
            </a:r>
            <a:endParaRPr lang="en-US" sz="1600" dirty="0"/>
          </a:p>
        </p:txBody>
      </p:sp>
      <p:sp>
        <p:nvSpPr>
          <p:cNvPr id="6" name="Shape 4"/>
          <p:cNvSpPr/>
          <p:nvPr/>
        </p:nvSpPr>
        <p:spPr>
          <a:xfrm>
            <a:off x="411480" y="2514600"/>
            <a:ext cx="4114800" cy="1463040"/>
          </a:xfrm>
          <a:prstGeom prst="rect">
            <a:avLst/>
          </a:prstGeom>
          <a:solidFill>
            <a:srgbClr val="131C2E"/>
          </a:solidFill>
          <a:ln w="12700">
            <a:solidFill>
              <a:srgbClr val="0D9488"/>
            </a:solidFill>
            <a:prstDash val="solid"/>
          </a:ln>
          <a:effectLst>
            <a:outerShdw sx="100000" sy="100000" kx="0" ky="0" algn="bl" rotWithShape="0" blurRad="152400" dist="50800" dir="8100000">
              <a:srgbClr val="000000">
                <a:alpha val="25000"/>
              </a:srgbClr>
            </a:outerShdw>
          </a:effectLst>
        </p:spPr>
      </p:sp>
      <p:sp>
        <p:nvSpPr>
          <p:cNvPr id="7" name="Text 5"/>
          <p:cNvSpPr/>
          <p:nvPr/>
        </p:nvSpPr>
        <p:spPr>
          <a:xfrm>
            <a:off x="548640" y="2606040"/>
            <a:ext cx="3840480" cy="41148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Get in touch</a:t>
            </a:r>
            <a:endParaRPr lang="en-US" sz="1300" dirty="0"/>
          </a:p>
        </p:txBody>
      </p:sp>
      <p:sp>
        <p:nvSpPr>
          <p:cNvPr id="8" name="Text 6"/>
          <p:cNvSpPr/>
          <p:nvPr/>
        </p:nvSpPr>
        <p:spPr>
          <a:xfrm>
            <a:off x="548640" y="3017520"/>
            <a:ext cx="3840480" cy="86868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datamastery.com.au</a:t>
            </a:r>
            <a:endParaRPr lang="en-US" sz="1200" dirty="0"/>
          </a:p>
          <a:p>
            <a:pPr indent="0" marL="0">
              <a:buNone/>
            </a:pPr>
            <a:r>
              <a:rPr lang="en-US" sz="1200" dirty="0">
                <a:solidFill>
                  <a:srgbClr val="E2E8F0"/>
                </a:solidFill>
                <a:latin typeface="Calibri" pitchFamily="34" charset="0"/>
                <a:ea typeface="Calibri" pitchFamily="34" charset="-122"/>
                <a:cs typeface="Calibri" pitchFamily="34" charset="-120"/>
              </a:rPr>
              <a:t>vinnie.kura@gmail.com</a:t>
            </a:r>
            <a:endParaRPr lang="en-US" sz="1200" dirty="0"/>
          </a:p>
          <a:p>
            <a:pPr indent="0" marL="0">
              <a:buNone/>
            </a:pPr>
            <a:r>
              <a:rPr lang="en-US" sz="1200" dirty="0">
                <a:solidFill>
                  <a:srgbClr val="E2E8F0"/>
                </a:solidFill>
                <a:latin typeface="Calibri" pitchFamily="34" charset="0"/>
                <a:ea typeface="Calibri" pitchFamily="34" charset="-122"/>
                <a:cs typeface="Calibri" pitchFamily="34" charset="-120"/>
              </a:rPr>
              <a:t>LinkedIn: /in/vinniekura</a:t>
            </a:r>
            <a:endParaRPr lang="en-US" sz="1200" dirty="0"/>
          </a:p>
        </p:txBody>
      </p:sp>
      <p:sp>
        <p:nvSpPr>
          <p:cNvPr id="9" name="Shape 7"/>
          <p:cNvSpPr/>
          <p:nvPr/>
        </p:nvSpPr>
        <p:spPr>
          <a:xfrm>
            <a:off x="4846320" y="2514600"/>
            <a:ext cx="3931920" cy="1463040"/>
          </a:xfrm>
          <a:prstGeom prst="rect">
            <a:avLst/>
          </a:prstGeom>
          <a:solidFill>
            <a:srgbClr val="134E4A"/>
          </a:solidFill>
          <a:ln w="12700">
            <a:solidFill>
              <a:srgbClr val="0D9488"/>
            </a:solidFill>
            <a:prstDash val="solid"/>
          </a:ln>
          <a:effectLst>
            <a:outerShdw sx="100000" sy="100000" kx="0" ky="0" algn="bl" rotWithShape="0" blurRad="152400" dist="50800" dir="8100000">
              <a:srgbClr val="000000">
                <a:alpha val="25000"/>
              </a:srgbClr>
            </a:outerShdw>
          </a:effectLst>
        </p:spPr>
      </p:sp>
      <p:sp>
        <p:nvSpPr>
          <p:cNvPr id="10" name="Text 8"/>
          <p:cNvSpPr/>
          <p:nvPr/>
        </p:nvSpPr>
        <p:spPr>
          <a:xfrm>
            <a:off x="4983480" y="2606040"/>
            <a:ext cx="3657600" cy="411480"/>
          </a:xfrm>
          <a:prstGeom prst="rect">
            <a:avLst/>
          </a:prstGeom>
          <a:noFill/>
          <a:ln/>
        </p:spPr>
        <p:txBody>
          <a:bodyPr wrap="square" lIns="0" tIns="0" rIns="0" bIns="0" rtlCol="0" anchor="ctr"/>
          <a:lstStyle/>
          <a:p>
            <a:pPr indent="0" marL="0">
              <a:buNone/>
            </a:pPr>
            <a:r>
              <a:rPr lang="en-US" sz="1300" b="1" dirty="0">
                <a:solidFill>
                  <a:srgbClr val="0D9488"/>
                </a:solidFill>
                <a:latin typeface="Calibri" pitchFamily="34" charset="0"/>
                <a:ea typeface="Calibri" pitchFamily="34" charset="-122"/>
                <a:cs typeface="Calibri" pitchFamily="34" charset="-120"/>
              </a:rPr>
              <a:t>Key takeaway</a:t>
            </a:r>
            <a:endParaRPr lang="en-US" sz="1300" dirty="0"/>
          </a:p>
        </p:txBody>
      </p:sp>
      <p:sp>
        <p:nvSpPr>
          <p:cNvPr id="11" name="Text 9"/>
          <p:cNvSpPr/>
          <p:nvPr/>
        </p:nvSpPr>
        <p:spPr>
          <a:xfrm>
            <a:off x="4983480" y="3017520"/>
            <a:ext cx="3657600" cy="868680"/>
          </a:xfrm>
          <a:prstGeom prst="rect">
            <a:avLst/>
          </a:prstGeom>
          <a:noFill/>
          <a:ln/>
        </p:spPr>
        <p:txBody>
          <a:bodyPr wrap="square" lIns="0" tIns="0" rIns="0" bIns="0" rtlCol="0" anchor="ctr"/>
          <a:lstStyle/>
          <a:p>
            <a:pPr indent="0" marL="0">
              <a:buNone/>
            </a:pPr>
            <a:r>
              <a:rPr lang="en-US" sz="1100" i="1" dirty="0">
                <a:solidFill>
                  <a:srgbClr val="E2E8F0"/>
                </a:solidFill>
                <a:latin typeface="Georgia" pitchFamily="34" charset="0"/>
                <a:ea typeface="Georgia" pitchFamily="34" charset="-122"/>
                <a:cs typeface="Georgia" pitchFamily="34" charset="-120"/>
              </a:rPr>
              <a:t>Embed lightweight governance into existing Scrum ceremonies to catch bias, ensure auditability, and protect delivery integrity without slowing teams down</a:t>
            </a:r>
            <a:endParaRPr lang="en-US" sz="1100" dirty="0"/>
          </a:p>
        </p:txBody>
      </p:sp>
      <p:sp>
        <p:nvSpPr>
          <p:cNvPr id="12" name="Text 10"/>
          <p:cNvSpPr/>
          <p:nvPr/>
        </p:nvSpPr>
        <p:spPr>
          <a:xfrm>
            <a:off x="411480" y="4434840"/>
            <a:ext cx="6400800" cy="45720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Vinnie Kura  ·  Data Mastery  ·  datamastery.com.au</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Your Sprint Produces AI Outputs</dc:title>
  <dc:subject>PptxGenJS Presentation</dc:subject>
  <dc:creator>Vinnie Kura — Data Mastery</dc:creator>
  <cp:lastModifiedBy>Vinnie Kura — Data Mastery</cp:lastModifiedBy>
  <cp:revision>1</cp:revision>
  <dcterms:created xsi:type="dcterms:W3CDTF">2026-04-25T09:16:36Z</dcterms:created>
  <dcterms:modified xsi:type="dcterms:W3CDTF">2026-04-25T09:16:36Z</dcterms:modified>
</cp:coreProperties>
</file>